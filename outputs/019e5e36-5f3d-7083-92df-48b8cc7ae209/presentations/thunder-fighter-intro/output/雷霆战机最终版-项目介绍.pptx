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9E69865-0770-4083-B021-D5EC6A5578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810">
              <a:alpha val="36000"/>
            </a:srgbClr>
          </a:solidFill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700D56-DA33-4CBE-A01C-CE1AB17E5C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40812">
                  <a:alpha val="92000"/>
                </a:srgbClr>
              </a:gs>
              <a:gs pos="48000">
                <a:srgbClr val="040812">
                  <a:alpha val="18000"/>
                </a:srgbClr>
              </a:gs>
              <a:gs pos="100000">
                <a:srgbClr val="040812">
                  <a:alpha val="78000"/>
                </a:srgbClr>
              </a:gs>
            </a:gsLst>
            <a:lin ang="0"/>
          </a:gradFill>
        </p:spPr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91949A9-4BB0-4E99-8826-21BEB3D0BBA7}"/>
              </a:ext>
            </a:extLst>
          </p:cNvPr>
          <p:cNvSpPr>
            <a:spLocks noGrp="1"/>
          </p:cNvSpPr>
          <p:nvPr/>
        </p:nvSpPr>
        <p:spPr>
          <a:xfrm>
            <a:off x="666750" y="885825"/>
            <a:ext cx="66675" cy="1619250"/>
          </a:xfrm>
          <a:prstGeom prst="roundRect">
            <a:avLst>
              <a:gd name="adj" fmla="val 42857"/>
            </a:avLst>
          </a:prstGeom>
          <a:solidFill>
            <a:srgbClr val="37E8FF"/>
          </a:solidFill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116898-D2B3-4347-ABEB-3AEF86E01764}"/>
              </a:ext>
            </a:extLst>
          </p:cNvPr>
          <p:cNvSpPr>
            <a:spLocks noGrp="1"/>
          </p:cNvSpPr>
          <p:nvPr/>
        </p:nvSpPr>
        <p:spPr>
          <a:xfrm>
            <a:off x="876300" y="952500"/>
            <a:ext cx="7429500" cy="876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43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雷霆战机最终版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2B9CF6A-95CE-4511-AD45-BE1B3F9EB89D}"/>
              </a:ext>
            </a:extLst>
          </p:cNvPr>
          <p:cNvSpPr>
            <a:spLocks noGrp="1"/>
          </p:cNvSpPr>
          <p:nvPr/>
        </p:nvSpPr>
        <p:spPr>
          <a:xfrm>
            <a:off x="914400" y="1847850"/>
            <a:ext cx="5334000" cy="3619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8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rPr>
              <a:t>飞行射击 / 无尽生存 / 双人协作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059E6AF-D390-4091-9B73-E822FEEC7389}"/>
              </a:ext>
            </a:extLst>
          </p:cNvPr>
          <p:cNvSpPr>
            <a:spLocks noGrp="1"/>
          </p:cNvSpPr>
          <p:nvPr/>
        </p:nvSpPr>
        <p:spPr>
          <a:xfrm>
            <a:off x="933450" y="2343150"/>
            <a:ext cx="59055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42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一份聚焦玩法完成度与视觉表现的课程答辩展示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E98D1AB-A9A6-443B-804D-CA047778ADE1}"/>
              </a:ext>
            </a:extLst>
          </p:cNvPr>
          <p:cNvSpPr>
            <a:spLocks noGrp="1"/>
          </p:cNvSpPr>
          <p:nvPr/>
        </p:nvSpPr>
        <p:spPr>
          <a:xfrm>
            <a:off x="914400" y="5381625"/>
            <a:ext cx="1504950" cy="400050"/>
          </a:xfrm>
          <a:prstGeom prst="roundRect">
            <a:avLst>
              <a:gd name="adj" fmla="val 42857"/>
            </a:avLst>
          </a:prstGeom>
          <a:solidFill>
            <a:srgbClr val="081E2D">
              <a:alpha val="78000"/>
            </a:srgbClr>
          </a:solidFill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D2558F-98CC-428C-B145-1BB05BD7A2FE}"/>
              </a:ext>
            </a:extLst>
          </p:cNvPr>
          <p:cNvSpPr>
            <a:spLocks noGrp="1"/>
          </p:cNvSpPr>
          <p:nvPr/>
        </p:nvSpPr>
        <p:spPr>
          <a:xfrm>
            <a:off x="914400" y="5391150"/>
            <a:ext cx="1504950" cy="4000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5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rPr>
              <a:t>Unity 2022.3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6FAC961-9CFA-4827-B4F1-589BD2567A7B}"/>
              </a:ext>
            </a:extLst>
          </p:cNvPr>
          <p:cNvSpPr>
            <a:spLocks noGrp="1"/>
          </p:cNvSpPr>
          <p:nvPr/>
        </p:nvSpPr>
        <p:spPr>
          <a:xfrm>
            <a:off x="2590800" y="5381625"/>
            <a:ext cx="1257300" cy="400050"/>
          </a:xfrm>
          <a:prstGeom prst="roundRect">
            <a:avLst>
              <a:gd name="adj" fmla="val 42857"/>
            </a:avLst>
          </a:prstGeom>
          <a:solidFill>
            <a:srgbClr val="361D0C">
              <a:alpha val="72000"/>
            </a:srgbClr>
          </a:solidFill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0C8A0EC-12C4-46F4-9AE8-47EE4450173F}"/>
              </a:ext>
            </a:extLst>
          </p:cNvPr>
          <p:cNvSpPr>
            <a:spLocks noGrp="1"/>
          </p:cNvSpPr>
          <p:nvPr/>
        </p:nvSpPr>
        <p:spPr>
          <a:xfrm>
            <a:off x="2590800" y="5391150"/>
            <a:ext cx="1257300" cy="4000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500" b="1" i="0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rPr>
              <a:t>无尽生存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5C37F45-ECB3-403E-AA9F-EDF4FC54DA6C}"/>
              </a:ext>
            </a:extLst>
          </p:cNvPr>
          <p:cNvSpPr>
            <a:spLocks noGrp="1"/>
          </p:cNvSpPr>
          <p:nvPr/>
        </p:nvSpPr>
        <p:spPr>
          <a:xfrm>
            <a:off x="4019550" y="5381625"/>
            <a:ext cx="1257300" cy="400050"/>
          </a:xfrm>
          <a:prstGeom prst="roundRect">
            <a:avLst>
              <a:gd name="adj" fmla="val 42857"/>
            </a:avLst>
          </a:prstGeom>
          <a:solidFill>
            <a:srgbClr val="081E2D">
              <a:alpha val="78000"/>
            </a:srgbClr>
          </a:solidFill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83E72B6-4CBC-4359-92EF-6AFE9F1E3E49}"/>
              </a:ext>
            </a:extLst>
          </p:cNvPr>
          <p:cNvSpPr>
            <a:spLocks noGrp="1"/>
          </p:cNvSpPr>
          <p:nvPr/>
        </p:nvSpPr>
        <p:spPr>
          <a:xfrm>
            <a:off x="4019550" y="5391150"/>
            <a:ext cx="1257300" cy="4000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5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rPr>
              <a:t>Photon 联机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90B856A-2A56-4F21-8B9D-FF826902C23A}"/>
              </a:ext>
            </a:extLst>
          </p:cNvPr>
          <p:cNvSpPr>
            <a:spLocks noGrp="1"/>
          </p:cNvSpPr>
          <p:nvPr/>
        </p:nvSpPr>
        <p:spPr>
          <a:xfrm>
            <a:off x="11049000" y="6153150"/>
            <a:ext cx="5334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r">
              <a:defRPr sz="1200" b="0" i="0">
                <a:solidFill>
                  <a:srgbClr val="F6FB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F6FB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5B9186B-40E1-4D1F-8C01-05931E056738}"/>
              </a:ext>
            </a:extLst>
          </p:cNvPr>
          <p:cNvSpPr>
            <a:spLocks noGrp="1"/>
          </p:cNvSpPr>
          <p:nvPr/>
        </p:nvSpPr>
        <p:spPr>
          <a:xfrm>
            <a:off x="762000" y="6305550"/>
            <a:ext cx="9906000" cy="11430"/>
          </a:xfrm>
          <a:prstGeom prst="rect">
            <a:avLst/>
          </a:prstGeom>
          <a:solidFill>
            <a:srgbClr val="F6FBFF">
              <a:alpha val="16000"/>
            </a:srgbClr>
          </a:solidFill>
        </p:spPr>
      </p:sp>
    </p:spTree>
    <p:extLst>
      <p:ext uri="{BB962C8B-B14F-4D97-AF65-F5344CB8AC3E}">
        <p14:creationId xmlns:p14="http://schemas.microsoft.com/office/powerpoint/2010/main" val="250365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7CCF837-B542-4D3E-AC44-F150485D4C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A12">
              <a:alpha val="58000"/>
            </a:srgbClr>
          </a:solidFill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501E648-D7C0-4E61-B674-F94F4A98E0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40812">
                  <a:alpha val="92000"/>
                </a:srgbClr>
              </a:gs>
              <a:gs pos="48000">
                <a:srgbClr val="040812">
                  <a:alpha val="18000"/>
                </a:srgbClr>
              </a:gs>
              <a:gs pos="100000">
                <a:srgbClr val="040812">
                  <a:alpha val="78000"/>
                </a:srgbClr>
              </a:gs>
            </a:gsLst>
            <a:lin ang="0"/>
          </a:gradFill>
        </p:spPr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BEA5608-AFA6-4671-8A80-5BA68F68BA98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7E8FF"/>
          </a:solidFill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333439-A1A1-4EFC-BB21-061412F4F58A}"/>
              </a:ext>
            </a:extLst>
          </p:cNvPr>
          <p:cNvSpPr>
            <a:spLocks noGrp="1"/>
          </p:cNvSpPr>
          <p:nvPr/>
        </p:nvSpPr>
        <p:spPr>
          <a:xfrm>
            <a:off x="742950" y="4572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2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rPr>
              <a:t>PROJECT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4088800-6918-4FD7-A88A-17FACEF840AC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28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项目一句话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0CA1ED1-B0E2-4F3B-BB79-B6AEA2C902AA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6858000" cy="4000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500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玩家驾驶战机，在不断加压的空中战场中追求更高分。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39FF472-B1D8-4351-83B1-3AC9323AEF7F}"/>
              </a:ext>
            </a:extLst>
          </p:cNvPr>
          <p:cNvSpPr>
            <a:spLocks noGrp="1"/>
          </p:cNvSpPr>
          <p:nvPr/>
        </p:nvSpPr>
        <p:spPr>
          <a:xfrm>
            <a:off x="819150" y="2571750"/>
            <a:ext cx="6572250" cy="8191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360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飞行射击 + 无尽生存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CD90874-5F98-4896-A333-E282EB06C4BD}"/>
              </a:ext>
            </a:extLst>
          </p:cNvPr>
          <p:cNvSpPr>
            <a:spLocks noGrp="1"/>
          </p:cNvSpPr>
          <p:nvPr/>
        </p:nvSpPr>
        <p:spPr>
          <a:xfrm>
            <a:off x="876300" y="3390900"/>
            <a:ext cx="5905500" cy="4000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650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玩法目标很直接：活下去，打得更远，分数更高。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AE89B01-F38F-4086-9041-C93DE00AF0B5}"/>
              </a:ext>
            </a:extLst>
          </p:cNvPr>
          <p:cNvSpPr>
            <a:spLocks noGrp="1"/>
          </p:cNvSpPr>
          <p:nvPr/>
        </p:nvSpPr>
        <p:spPr>
          <a:xfrm>
            <a:off x="7658100" y="2343150"/>
            <a:ext cx="1657350" cy="990600"/>
          </a:xfrm>
          <a:prstGeom prst="roundRect">
            <a:avLst>
              <a:gd name="adj" fmla="val 9615"/>
            </a:avLst>
          </a:prstGeom>
          <a:solidFill>
            <a:srgbClr val="091B2C">
              <a:alpha val="78000"/>
            </a:srgbClr>
          </a:solidFill>
        </p:spPr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6FAC828-E0E2-40D1-B073-081C2AD515CB}"/>
              </a:ext>
            </a:extLst>
          </p:cNvPr>
          <p:cNvSpPr>
            <a:spLocks noGrp="1"/>
          </p:cNvSpPr>
          <p:nvPr/>
        </p:nvSpPr>
        <p:spPr>
          <a:xfrm>
            <a:off x="7658100" y="2343150"/>
            <a:ext cx="1657350" cy="28575"/>
          </a:xfrm>
          <a:prstGeom prst="roundRect">
            <a:avLst>
              <a:gd name="adj" fmla="val 50000"/>
            </a:avLst>
          </a:prstGeom>
          <a:solidFill>
            <a:srgbClr val="37E8FF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A262CD3-987A-4C8E-BDCB-211D47A9C242}"/>
              </a:ext>
            </a:extLst>
          </p:cNvPr>
          <p:cNvSpPr>
            <a:spLocks noGrp="1"/>
          </p:cNvSpPr>
          <p:nvPr/>
        </p:nvSpPr>
        <p:spPr>
          <a:xfrm>
            <a:off x="7772400" y="2495550"/>
            <a:ext cx="142875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2325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A320410-3F96-4DCF-8473-AF9D01C46B94}"/>
              </a:ext>
            </a:extLst>
          </p:cNvPr>
          <p:cNvSpPr>
            <a:spLocks noGrp="1"/>
          </p:cNvSpPr>
          <p:nvPr/>
        </p:nvSpPr>
        <p:spPr>
          <a:xfrm>
            <a:off x="7772400" y="287655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200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Build 场景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7813843-0175-477C-B3AD-A77A4194A2D2}"/>
              </a:ext>
            </a:extLst>
          </p:cNvPr>
          <p:cNvSpPr>
            <a:spLocks noGrp="1"/>
          </p:cNvSpPr>
          <p:nvPr/>
        </p:nvSpPr>
        <p:spPr>
          <a:xfrm>
            <a:off x="9505950" y="2343150"/>
            <a:ext cx="1657350" cy="990600"/>
          </a:xfrm>
          <a:prstGeom prst="roundRect">
            <a:avLst>
              <a:gd name="adj" fmla="val 9615"/>
            </a:avLst>
          </a:prstGeom>
          <a:solidFill>
            <a:srgbClr val="091B2C">
              <a:alpha val="78000"/>
            </a:srgbClr>
          </a:solidFill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CC1DFEC-2D72-4F5A-8D06-66B9D3ADA489}"/>
              </a:ext>
            </a:extLst>
          </p:cNvPr>
          <p:cNvSpPr>
            <a:spLocks noGrp="1"/>
          </p:cNvSpPr>
          <p:nvPr/>
        </p:nvSpPr>
        <p:spPr>
          <a:xfrm>
            <a:off x="9505950" y="2343150"/>
            <a:ext cx="1657350" cy="28575"/>
          </a:xfrm>
          <a:prstGeom prst="roundRect">
            <a:avLst>
              <a:gd name="adj" fmla="val 50000"/>
            </a:avLst>
          </a:prstGeom>
          <a:solidFill>
            <a:srgbClr val="FF9A3D"/>
          </a:solidFill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5764417-F5AD-43E2-94F0-5136D30A32F6}"/>
              </a:ext>
            </a:extLst>
          </p:cNvPr>
          <p:cNvSpPr>
            <a:spLocks noGrp="1"/>
          </p:cNvSpPr>
          <p:nvPr/>
        </p:nvSpPr>
        <p:spPr>
          <a:xfrm>
            <a:off x="9620250" y="2495550"/>
            <a:ext cx="142875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2325" b="1" i="0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8B866D-8DEB-4741-BB5D-A5FA962556C6}"/>
              </a:ext>
            </a:extLst>
          </p:cNvPr>
          <p:cNvSpPr>
            <a:spLocks noGrp="1"/>
          </p:cNvSpPr>
          <p:nvPr/>
        </p:nvSpPr>
        <p:spPr>
          <a:xfrm>
            <a:off x="9620250" y="287655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200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主动技能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3395C83-01F6-40A9-8A1F-44BB3AB0C883}"/>
              </a:ext>
            </a:extLst>
          </p:cNvPr>
          <p:cNvSpPr>
            <a:spLocks noGrp="1"/>
          </p:cNvSpPr>
          <p:nvPr/>
        </p:nvSpPr>
        <p:spPr>
          <a:xfrm>
            <a:off x="7658100" y="3562350"/>
            <a:ext cx="1657350" cy="990600"/>
          </a:xfrm>
          <a:prstGeom prst="roundRect">
            <a:avLst>
              <a:gd name="adj" fmla="val 9615"/>
            </a:avLst>
          </a:prstGeom>
          <a:solidFill>
            <a:srgbClr val="091B2C">
              <a:alpha val="78000"/>
            </a:srgbClr>
          </a:solidFill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66235BD-CD74-4B68-82A8-FA67F9D6EC5D}"/>
              </a:ext>
            </a:extLst>
          </p:cNvPr>
          <p:cNvSpPr>
            <a:spLocks noGrp="1"/>
          </p:cNvSpPr>
          <p:nvPr/>
        </p:nvSpPr>
        <p:spPr>
          <a:xfrm>
            <a:off x="7658100" y="3562350"/>
            <a:ext cx="1657350" cy="28575"/>
          </a:xfrm>
          <a:prstGeom prst="roundRect">
            <a:avLst>
              <a:gd name="adj" fmla="val 50000"/>
            </a:avLst>
          </a:prstGeom>
          <a:solidFill>
            <a:srgbClr val="37E8FF"/>
          </a:solidFill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18039BC-F8BF-40B5-A59A-E13437D5D1BB}"/>
              </a:ext>
            </a:extLst>
          </p:cNvPr>
          <p:cNvSpPr>
            <a:spLocks noGrp="1"/>
          </p:cNvSpPr>
          <p:nvPr/>
        </p:nvSpPr>
        <p:spPr>
          <a:xfrm>
            <a:off x="7772400" y="3714750"/>
            <a:ext cx="142875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2325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ADDBBA6-7B0A-4F32-BFA9-580B30973BE0}"/>
              </a:ext>
            </a:extLst>
          </p:cNvPr>
          <p:cNvSpPr>
            <a:spLocks noGrp="1"/>
          </p:cNvSpPr>
          <p:nvPr/>
        </p:nvSpPr>
        <p:spPr>
          <a:xfrm>
            <a:off x="7772400" y="409575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200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单机战场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25AD0C5-B632-4FA7-8C8F-039A04D634B3}"/>
              </a:ext>
            </a:extLst>
          </p:cNvPr>
          <p:cNvSpPr>
            <a:spLocks noGrp="1"/>
          </p:cNvSpPr>
          <p:nvPr/>
        </p:nvSpPr>
        <p:spPr>
          <a:xfrm>
            <a:off x="9505950" y="3562350"/>
            <a:ext cx="1657350" cy="990600"/>
          </a:xfrm>
          <a:prstGeom prst="roundRect">
            <a:avLst>
              <a:gd name="adj" fmla="val 9615"/>
            </a:avLst>
          </a:prstGeom>
          <a:solidFill>
            <a:srgbClr val="091B2C">
              <a:alpha val="78000"/>
            </a:srgbClr>
          </a:solidFill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D3F0941-8ECD-445F-8E0F-8B01234FDA76}"/>
              </a:ext>
            </a:extLst>
          </p:cNvPr>
          <p:cNvSpPr>
            <a:spLocks noGrp="1"/>
          </p:cNvSpPr>
          <p:nvPr/>
        </p:nvSpPr>
        <p:spPr>
          <a:xfrm>
            <a:off x="9505950" y="3562350"/>
            <a:ext cx="1657350" cy="28575"/>
          </a:xfrm>
          <a:prstGeom prst="roundRect">
            <a:avLst>
              <a:gd name="adj" fmla="val 50000"/>
            </a:avLst>
          </a:prstGeom>
          <a:solidFill>
            <a:srgbClr val="FF9A3D"/>
          </a:solidFill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F37253-E62B-4362-9BA1-4EEC0EEB72AA}"/>
              </a:ext>
            </a:extLst>
          </p:cNvPr>
          <p:cNvSpPr>
            <a:spLocks noGrp="1"/>
          </p:cNvSpPr>
          <p:nvPr/>
        </p:nvSpPr>
        <p:spPr>
          <a:xfrm>
            <a:off x="9620250" y="3714750"/>
            <a:ext cx="142875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2325" b="1" i="0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i="0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2D6AF41-B9AF-420F-A878-087BA2741F17}"/>
              </a:ext>
            </a:extLst>
          </p:cNvPr>
          <p:cNvSpPr>
            <a:spLocks noGrp="1"/>
          </p:cNvSpPr>
          <p:nvPr/>
        </p:nvSpPr>
        <p:spPr>
          <a:xfrm>
            <a:off x="9620250" y="409575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200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联机场景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B9FC9DF-40EC-49E2-B267-10F4557A25AA}"/>
              </a:ext>
            </a:extLst>
          </p:cNvPr>
          <p:cNvSpPr>
            <a:spLocks noGrp="1"/>
          </p:cNvSpPr>
          <p:nvPr/>
        </p:nvSpPr>
        <p:spPr>
          <a:xfrm>
            <a:off x="11049000" y="6153150"/>
            <a:ext cx="5334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r">
              <a:defRPr sz="1200" b="0" i="0">
                <a:solidFill>
                  <a:srgbClr val="F6FB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F6FB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186FE86-5CD3-4FE5-98E4-6ACAA5D9FC31}"/>
              </a:ext>
            </a:extLst>
          </p:cNvPr>
          <p:cNvSpPr>
            <a:spLocks noGrp="1"/>
          </p:cNvSpPr>
          <p:nvPr/>
        </p:nvSpPr>
        <p:spPr>
          <a:xfrm>
            <a:off x="762000" y="6305550"/>
            <a:ext cx="9906000" cy="11430"/>
          </a:xfrm>
          <a:prstGeom prst="rect">
            <a:avLst/>
          </a:prstGeom>
          <a:solidFill>
            <a:srgbClr val="F6FBFF">
              <a:alpha val="16000"/>
            </a:srgbClr>
          </a:solidFill>
        </p:spPr>
      </p:sp>
    </p:spTree>
    <p:extLst>
      <p:ext uri="{BB962C8B-B14F-4D97-AF65-F5344CB8AC3E}">
        <p14:creationId xmlns:p14="http://schemas.microsoft.com/office/powerpoint/2010/main" val="655231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4498183-60B1-4AC9-A340-84CD271E59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810">
              <a:alpha val="76000"/>
            </a:srgbClr>
          </a:solidFill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181DEDF-6665-494C-BA56-CE17104F56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40812">
                  <a:alpha val="92000"/>
                </a:srgbClr>
              </a:gs>
              <a:gs pos="48000">
                <a:srgbClr val="040812">
                  <a:alpha val="18000"/>
                </a:srgbClr>
              </a:gs>
              <a:gs pos="100000">
                <a:srgbClr val="040812">
                  <a:alpha val="78000"/>
                </a:srgbClr>
              </a:gs>
            </a:gsLst>
            <a:lin ang="0"/>
          </a:gradFill>
        </p:spPr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FA635CC-E76E-4FFF-AA86-0E2583B1CE1D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7E8FF"/>
          </a:solidFill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7247656-500B-47A2-9601-B10A75F690A8}"/>
              </a:ext>
            </a:extLst>
          </p:cNvPr>
          <p:cNvSpPr>
            <a:spLocks noGrp="1"/>
          </p:cNvSpPr>
          <p:nvPr/>
        </p:nvSpPr>
        <p:spPr>
          <a:xfrm>
            <a:off x="742950" y="4572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2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rPr>
              <a:t>CORE LOOP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3C6BF74-291A-4E47-B270-0DA792CAE0B3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28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核心体验很短：闪避、射击、爆发、冲分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38637AD-E66E-4F23-9E04-A208B93D6809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6858000" cy="4000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500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每一轮都围绕“危险逼近”和“技能反打”展开。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19AF045-8746-459A-A6DE-B613E3337696}"/>
              </a:ext>
            </a:extLst>
          </p:cNvPr>
          <p:cNvSpPr>
            <a:spLocks noGrp="1"/>
          </p:cNvSpPr>
          <p:nvPr/>
        </p:nvSpPr>
        <p:spPr>
          <a:xfrm>
            <a:off x="1066800" y="2933700"/>
            <a:ext cx="1428750" cy="1428750"/>
          </a:xfrm>
          <a:prstGeom prst="roundRect">
            <a:avLst>
              <a:gd name="adj" fmla="val 50000"/>
            </a:avLst>
          </a:prstGeom>
          <a:solidFill>
            <a:srgbClr val="091B2C">
              <a:alpha val="82000"/>
            </a:srgbClr>
          </a:solidFill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70A3376-1221-4BF3-B294-D8901AB3FF2D}"/>
              </a:ext>
            </a:extLst>
          </p:cNvPr>
          <p:cNvSpPr>
            <a:spLocks noGrp="1"/>
          </p:cNvSpPr>
          <p:nvPr/>
        </p:nvSpPr>
        <p:spPr>
          <a:xfrm>
            <a:off x="1590675" y="281940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37E8FF"/>
          </a:solidFill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E6D293E-5CF2-46DE-A764-F9DC231D3420}"/>
              </a:ext>
            </a:extLst>
          </p:cNvPr>
          <p:cNvSpPr>
            <a:spLocks noGrp="1"/>
          </p:cNvSpPr>
          <p:nvPr/>
        </p:nvSpPr>
        <p:spPr>
          <a:xfrm>
            <a:off x="1181100" y="3257550"/>
            <a:ext cx="120015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2175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rPr>
              <a:t>闪避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CBEAB50-C8A6-4AE8-A953-B671685243C6}"/>
              </a:ext>
            </a:extLst>
          </p:cNvPr>
          <p:cNvSpPr>
            <a:spLocks noGrp="1"/>
          </p:cNvSpPr>
          <p:nvPr/>
        </p:nvSpPr>
        <p:spPr>
          <a:xfrm>
            <a:off x="1238250" y="3733800"/>
            <a:ext cx="1085850" cy="3238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12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A / D 横向移动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D7AC32-3ADB-48D4-A54B-7E2F759F7E7D}"/>
              </a:ext>
            </a:extLst>
          </p:cNvPr>
          <p:cNvSpPr>
            <a:spLocks noGrp="1"/>
          </p:cNvSpPr>
          <p:nvPr/>
        </p:nvSpPr>
        <p:spPr>
          <a:xfrm>
            <a:off x="2571750" y="3390900"/>
            <a:ext cx="4572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2550" b="1" i="0">
                <a:solidFill>
                  <a:srgbClr val="37E8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37E8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6CB850D-35B5-49EC-B4EE-9249216E7BC2}"/>
              </a:ext>
            </a:extLst>
          </p:cNvPr>
          <p:cNvSpPr>
            <a:spLocks noGrp="1"/>
          </p:cNvSpPr>
          <p:nvPr/>
        </p:nvSpPr>
        <p:spPr>
          <a:xfrm>
            <a:off x="3162300" y="2933700"/>
            <a:ext cx="1428750" cy="1428750"/>
          </a:xfrm>
          <a:prstGeom prst="roundRect">
            <a:avLst>
              <a:gd name="adj" fmla="val 50000"/>
            </a:avLst>
          </a:prstGeom>
          <a:solidFill>
            <a:srgbClr val="091B2C">
              <a:alpha val="82000"/>
            </a:srgbClr>
          </a:solidFill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4C0B7DB-ABCA-494B-A23C-52CCBF8FB1A7}"/>
              </a:ext>
            </a:extLst>
          </p:cNvPr>
          <p:cNvSpPr>
            <a:spLocks noGrp="1"/>
          </p:cNvSpPr>
          <p:nvPr/>
        </p:nvSpPr>
        <p:spPr>
          <a:xfrm>
            <a:off x="3686175" y="281940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F6FBFF"/>
          </a:solidFill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3FE933-D62D-46B5-B38E-E336AD92410D}"/>
              </a:ext>
            </a:extLst>
          </p:cNvPr>
          <p:cNvSpPr>
            <a:spLocks noGrp="1"/>
          </p:cNvSpPr>
          <p:nvPr/>
        </p:nvSpPr>
        <p:spPr>
          <a:xfrm>
            <a:off x="3276600" y="3257550"/>
            <a:ext cx="120015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2175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射击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BEB851C-05F4-460C-BC67-7E7CE155A9E7}"/>
              </a:ext>
            </a:extLst>
          </p:cNvPr>
          <p:cNvSpPr>
            <a:spLocks noGrp="1"/>
          </p:cNvSpPr>
          <p:nvPr/>
        </p:nvSpPr>
        <p:spPr>
          <a:xfrm>
            <a:off x="3333750" y="3733800"/>
            <a:ext cx="1085850" cy="3238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12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Space 正面输出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88251A2-BB52-46C7-BF52-94C3149BF837}"/>
              </a:ext>
            </a:extLst>
          </p:cNvPr>
          <p:cNvSpPr>
            <a:spLocks noGrp="1"/>
          </p:cNvSpPr>
          <p:nvPr/>
        </p:nvSpPr>
        <p:spPr>
          <a:xfrm>
            <a:off x="4667250" y="3390900"/>
            <a:ext cx="4572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2550" b="1" i="0">
                <a:solidFill>
                  <a:srgbClr val="37E8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37E8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AEF19BE-89A5-4F04-9A5A-A594AB1F02CA}"/>
              </a:ext>
            </a:extLst>
          </p:cNvPr>
          <p:cNvSpPr>
            <a:spLocks noGrp="1"/>
          </p:cNvSpPr>
          <p:nvPr/>
        </p:nvSpPr>
        <p:spPr>
          <a:xfrm>
            <a:off x="5257800" y="2933700"/>
            <a:ext cx="1428750" cy="1428750"/>
          </a:xfrm>
          <a:prstGeom prst="roundRect">
            <a:avLst>
              <a:gd name="adj" fmla="val 50000"/>
            </a:avLst>
          </a:prstGeom>
          <a:solidFill>
            <a:srgbClr val="091B2C">
              <a:alpha val="82000"/>
            </a:srgbClr>
          </a:solidFill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48013A0-579F-4E81-8193-851646221BA8}"/>
              </a:ext>
            </a:extLst>
          </p:cNvPr>
          <p:cNvSpPr>
            <a:spLocks noGrp="1"/>
          </p:cNvSpPr>
          <p:nvPr/>
        </p:nvSpPr>
        <p:spPr>
          <a:xfrm>
            <a:off x="5781675" y="281940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FF9A3D"/>
          </a:solidFill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583F447-F437-4AD7-B409-EB63EAD4F1ED}"/>
              </a:ext>
            </a:extLst>
          </p:cNvPr>
          <p:cNvSpPr>
            <a:spLocks noGrp="1"/>
          </p:cNvSpPr>
          <p:nvPr/>
        </p:nvSpPr>
        <p:spPr>
          <a:xfrm>
            <a:off x="5372100" y="3257550"/>
            <a:ext cx="120015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2175" b="1" i="0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i="0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rPr>
              <a:t>充能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F519D60-68ED-4743-84BE-FCBEEF1D12EB}"/>
              </a:ext>
            </a:extLst>
          </p:cNvPr>
          <p:cNvSpPr>
            <a:spLocks noGrp="1"/>
          </p:cNvSpPr>
          <p:nvPr/>
        </p:nvSpPr>
        <p:spPr>
          <a:xfrm>
            <a:off x="5429250" y="3733800"/>
            <a:ext cx="1085850" cy="3238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12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击杀积累技能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B8E8B52-CBA0-4DE4-A7E4-B411045C897B}"/>
              </a:ext>
            </a:extLst>
          </p:cNvPr>
          <p:cNvSpPr>
            <a:spLocks noGrp="1"/>
          </p:cNvSpPr>
          <p:nvPr/>
        </p:nvSpPr>
        <p:spPr>
          <a:xfrm>
            <a:off x="6762750" y="3390900"/>
            <a:ext cx="4572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2550" b="1" i="0">
                <a:solidFill>
                  <a:srgbClr val="37E8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37E8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628A711-DAED-47C8-8A8F-C949E456CF25}"/>
              </a:ext>
            </a:extLst>
          </p:cNvPr>
          <p:cNvSpPr>
            <a:spLocks noGrp="1"/>
          </p:cNvSpPr>
          <p:nvPr/>
        </p:nvSpPr>
        <p:spPr>
          <a:xfrm>
            <a:off x="7353300" y="2933700"/>
            <a:ext cx="1428750" cy="1428750"/>
          </a:xfrm>
          <a:prstGeom prst="roundRect">
            <a:avLst>
              <a:gd name="adj" fmla="val 50000"/>
            </a:avLst>
          </a:prstGeom>
          <a:solidFill>
            <a:srgbClr val="091B2C">
              <a:alpha val="82000"/>
            </a:srgbClr>
          </a:solidFill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FD90AFA-9AF7-4EE5-8D8E-68691FB98545}"/>
              </a:ext>
            </a:extLst>
          </p:cNvPr>
          <p:cNvSpPr>
            <a:spLocks noGrp="1"/>
          </p:cNvSpPr>
          <p:nvPr/>
        </p:nvSpPr>
        <p:spPr>
          <a:xfrm>
            <a:off x="7877175" y="281940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FF4B36"/>
          </a:solidFill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39A0D78-D2E5-49D9-B235-073FF59631F0}"/>
              </a:ext>
            </a:extLst>
          </p:cNvPr>
          <p:cNvSpPr>
            <a:spLocks noGrp="1"/>
          </p:cNvSpPr>
          <p:nvPr/>
        </p:nvSpPr>
        <p:spPr>
          <a:xfrm>
            <a:off x="7467600" y="3257550"/>
            <a:ext cx="120015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2175" b="1" i="0">
                <a:solidFill>
                  <a:srgbClr val="FF4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i="0">
                <a:solidFill>
                  <a:srgbClr val="FF4B36"/>
                </a:solidFill>
                <a:latin typeface="Microsoft YaHei"/>
                <a:ea typeface="Microsoft YaHei"/>
                <a:cs typeface="Microsoft YaHei"/>
              </a:rPr>
              <a:t>爆发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6B4CC51-52AE-4997-8850-588B30C23D6D}"/>
              </a:ext>
            </a:extLst>
          </p:cNvPr>
          <p:cNvSpPr>
            <a:spLocks noGrp="1"/>
          </p:cNvSpPr>
          <p:nvPr/>
        </p:nvSpPr>
        <p:spPr>
          <a:xfrm>
            <a:off x="7524750" y="3733800"/>
            <a:ext cx="1085850" cy="3238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12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X / C / V 解围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9213909-A338-43F7-B808-C4E1F9977A22}"/>
              </a:ext>
            </a:extLst>
          </p:cNvPr>
          <p:cNvSpPr>
            <a:spLocks noGrp="1"/>
          </p:cNvSpPr>
          <p:nvPr/>
        </p:nvSpPr>
        <p:spPr>
          <a:xfrm>
            <a:off x="8858250" y="3390900"/>
            <a:ext cx="4572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2550" b="1" i="0">
                <a:solidFill>
                  <a:srgbClr val="37E8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37E8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F7B530E9-5E95-444E-886E-76A3BC6B0CB2}"/>
              </a:ext>
            </a:extLst>
          </p:cNvPr>
          <p:cNvSpPr>
            <a:spLocks noGrp="1"/>
          </p:cNvSpPr>
          <p:nvPr/>
        </p:nvSpPr>
        <p:spPr>
          <a:xfrm>
            <a:off x="9448800" y="2933700"/>
            <a:ext cx="1428750" cy="1428750"/>
          </a:xfrm>
          <a:prstGeom prst="roundRect">
            <a:avLst>
              <a:gd name="adj" fmla="val 50000"/>
            </a:avLst>
          </a:prstGeom>
          <a:solidFill>
            <a:srgbClr val="091B2C">
              <a:alpha val="82000"/>
            </a:srgbClr>
          </a:solidFill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10BA859-6DCE-40C3-8146-D533BC1738AE}"/>
              </a:ext>
            </a:extLst>
          </p:cNvPr>
          <p:cNvSpPr>
            <a:spLocks noGrp="1"/>
          </p:cNvSpPr>
          <p:nvPr/>
        </p:nvSpPr>
        <p:spPr>
          <a:xfrm>
            <a:off x="9972675" y="2819400"/>
            <a:ext cx="381000" cy="38100"/>
          </a:xfrm>
          <a:prstGeom prst="roundRect">
            <a:avLst>
              <a:gd name="adj" fmla="val 50000"/>
            </a:avLst>
          </a:prstGeom>
          <a:solidFill>
            <a:srgbClr val="37E8FF"/>
          </a:solidFill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9CBB34D-B1E0-4C4F-8807-7C68B8900AE3}"/>
              </a:ext>
            </a:extLst>
          </p:cNvPr>
          <p:cNvSpPr>
            <a:spLocks noGrp="1"/>
          </p:cNvSpPr>
          <p:nvPr/>
        </p:nvSpPr>
        <p:spPr>
          <a:xfrm>
            <a:off x="9563100" y="3257550"/>
            <a:ext cx="120015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2175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rPr>
              <a:t>高分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1FE40D2-AC6B-4960-8E77-383A4AB8664C}"/>
              </a:ext>
            </a:extLst>
          </p:cNvPr>
          <p:cNvSpPr>
            <a:spLocks noGrp="1"/>
          </p:cNvSpPr>
          <p:nvPr/>
        </p:nvSpPr>
        <p:spPr>
          <a:xfrm>
            <a:off x="9620250" y="3733800"/>
            <a:ext cx="1085850" cy="3238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12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难度继续上升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D3326397-347E-4336-B31B-15897EBAB1D6}"/>
              </a:ext>
            </a:extLst>
          </p:cNvPr>
          <p:cNvSpPr>
            <a:spLocks noGrp="1"/>
          </p:cNvSpPr>
          <p:nvPr/>
        </p:nvSpPr>
        <p:spPr>
          <a:xfrm>
            <a:off x="3571875" y="52387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9A3D"/>
          </a:solidFill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72430F6-F54C-4C6C-BE27-770220F578BD}"/>
              </a:ext>
            </a:extLst>
          </p:cNvPr>
          <p:cNvSpPr>
            <a:spLocks noGrp="1"/>
          </p:cNvSpPr>
          <p:nvPr/>
        </p:nvSpPr>
        <p:spPr>
          <a:xfrm>
            <a:off x="3743325" y="5143500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500" b="0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技能击杀不返还充能，避免无限循环。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1309D7D-26EA-43D6-8848-81AE2D7A054B}"/>
              </a:ext>
            </a:extLst>
          </p:cNvPr>
          <p:cNvSpPr>
            <a:spLocks noGrp="1"/>
          </p:cNvSpPr>
          <p:nvPr/>
        </p:nvSpPr>
        <p:spPr>
          <a:xfrm>
            <a:off x="11049000" y="6153150"/>
            <a:ext cx="5334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r">
              <a:defRPr sz="1200" b="0" i="0">
                <a:solidFill>
                  <a:srgbClr val="F6FB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F6FB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D721619-49AF-4EBC-B5F8-12B62DEDE6C1}"/>
              </a:ext>
            </a:extLst>
          </p:cNvPr>
          <p:cNvSpPr>
            <a:spLocks noGrp="1"/>
          </p:cNvSpPr>
          <p:nvPr/>
        </p:nvSpPr>
        <p:spPr>
          <a:xfrm>
            <a:off x="762000" y="6305550"/>
            <a:ext cx="9906000" cy="11430"/>
          </a:xfrm>
          <a:prstGeom prst="rect">
            <a:avLst/>
          </a:prstGeom>
          <a:solidFill>
            <a:srgbClr val="F6FBFF">
              <a:alpha val="16000"/>
            </a:srgbClr>
          </a:solidFill>
        </p:spPr>
      </p:sp>
    </p:spTree>
    <p:extLst>
      <p:ext uri="{BB962C8B-B14F-4D97-AF65-F5344CB8AC3E}">
        <p14:creationId xmlns:p14="http://schemas.microsoft.com/office/powerpoint/2010/main" val="1033648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16E151B0-B9D5-4C72-81DD-E28EFF57F5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DCC1640-0C92-4A95-96E9-346B99D5CB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905500" cy="5334000"/>
          </a:xfrm>
          <a:prstGeom prst="rect">
            <a:avLst/>
          </a:prstGeom>
          <a:gradFill>
            <a:gsLst>
              <a:gs pos="0">
                <a:srgbClr val="123454"/>
              </a:gs>
              <a:gs pos="74000">
                <a:srgbClr val="07111F">
                  <a:alpha val="0"/>
                </a:srgbClr>
              </a:gs>
            </a:gsLst>
            <a:path path="shape"/>
          </a:gradFill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E2456E-F1C8-44EC-8856-CDE553FEF8AF}"/>
              </a:ext>
            </a:extLst>
          </p:cNvPr>
          <p:cNvSpPr>
            <a:spLocks noGrp="1"/>
          </p:cNvSpPr>
          <p:nvPr/>
        </p:nvSpPr>
        <p:spPr>
          <a:xfrm>
            <a:off x="7524750" y="1047750"/>
            <a:ext cx="4191000" cy="4191000"/>
          </a:xfrm>
          <a:prstGeom prst="rect">
            <a:avLst/>
          </a:prstGeom>
          <a:gradFill>
            <a:gsLst>
              <a:gs pos="0">
                <a:srgbClr val="FF5824">
                  <a:alpha val="18000"/>
                </a:srgbClr>
              </a:gs>
              <a:gs pos="70000">
                <a:srgbClr val="07111F">
                  <a:alpha val="0"/>
                </a:srgbClr>
              </a:gs>
            </a:gsLst>
            <a:path path="shape"/>
          </a:gradFill>
        </p:spPr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A2EB2EF-9282-4445-B59F-8BBA69837A90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7E8FF"/>
          </a:solidFill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7ABEF8-AA83-4F1D-A465-C9299F19D32B}"/>
              </a:ext>
            </a:extLst>
          </p:cNvPr>
          <p:cNvSpPr>
            <a:spLocks noGrp="1"/>
          </p:cNvSpPr>
          <p:nvPr/>
        </p:nvSpPr>
        <p:spPr>
          <a:xfrm>
            <a:off x="742950" y="4572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2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rPr>
              <a:t>FLOW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22F27C0-04DF-47FD-BE82-9EBB614178F9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28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从菜单到战场，路径保持清晰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74D3DE8-5076-4011-A640-E0BA64C92976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6858000" cy="4000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500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单机负责快速开局，联机负责双人协作。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1B8776E-350B-4742-9A4A-002E0CBD1C2C}"/>
              </a:ext>
            </a:extLst>
          </p:cNvPr>
          <p:cNvSpPr>
            <a:spLocks noGrp="1"/>
          </p:cNvSpPr>
          <p:nvPr/>
        </p:nvSpPr>
        <p:spPr>
          <a:xfrm>
            <a:off x="895350" y="2876550"/>
            <a:ext cx="1581150" cy="876300"/>
          </a:xfrm>
          <a:prstGeom prst="roundRect">
            <a:avLst>
              <a:gd name="adj" fmla="val 13043"/>
            </a:avLst>
          </a:prstGeom>
          <a:solidFill>
            <a:srgbClr val="102234">
              <a:alpha val="72000"/>
            </a:srgbClr>
          </a:solidFill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2633955-114F-4DA1-AF3D-342A4AA55173}"/>
              </a:ext>
            </a:extLst>
          </p:cNvPr>
          <p:cNvSpPr>
            <a:spLocks noGrp="1"/>
          </p:cNvSpPr>
          <p:nvPr/>
        </p:nvSpPr>
        <p:spPr>
          <a:xfrm>
            <a:off x="895350" y="2876550"/>
            <a:ext cx="1581150" cy="28575"/>
          </a:xfrm>
          <a:prstGeom prst="roundRect">
            <a:avLst>
              <a:gd name="adj" fmla="val 50000"/>
            </a:avLst>
          </a:prstGeom>
          <a:solidFill>
            <a:srgbClr val="37E8FF"/>
          </a:solidFill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CA8E38E-3512-4584-AC0E-20A0244B561A}"/>
              </a:ext>
            </a:extLst>
          </p:cNvPr>
          <p:cNvSpPr>
            <a:spLocks noGrp="1"/>
          </p:cNvSpPr>
          <p:nvPr/>
        </p:nvSpPr>
        <p:spPr>
          <a:xfrm>
            <a:off x="1028700" y="3028950"/>
            <a:ext cx="1314450" cy="285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6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StartMenu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C95593D-A67A-42F1-8665-4473587A948F}"/>
              </a:ext>
            </a:extLst>
          </p:cNvPr>
          <p:cNvSpPr>
            <a:spLocks noGrp="1"/>
          </p:cNvSpPr>
          <p:nvPr/>
        </p:nvSpPr>
        <p:spPr>
          <a:xfrm>
            <a:off x="1028700" y="3333750"/>
            <a:ext cx="131445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12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开始 / 退出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28E1EB9-ABD6-4BE7-9362-6DF9D8E430A0}"/>
              </a:ext>
            </a:extLst>
          </p:cNvPr>
          <p:cNvSpPr>
            <a:spLocks noGrp="1"/>
          </p:cNvSpPr>
          <p:nvPr/>
        </p:nvSpPr>
        <p:spPr>
          <a:xfrm>
            <a:off x="2552700" y="3086100"/>
            <a:ext cx="4572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2550" b="1" i="0">
                <a:solidFill>
                  <a:srgbClr val="37E8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37E8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EED26A9-80FF-4935-AF1E-F972353C196A}"/>
              </a:ext>
            </a:extLst>
          </p:cNvPr>
          <p:cNvSpPr>
            <a:spLocks noGrp="1"/>
          </p:cNvSpPr>
          <p:nvPr/>
        </p:nvSpPr>
        <p:spPr>
          <a:xfrm>
            <a:off x="3105150" y="2266950"/>
            <a:ext cx="1752600" cy="876300"/>
          </a:xfrm>
          <a:prstGeom prst="roundRect">
            <a:avLst>
              <a:gd name="adj" fmla="val 13043"/>
            </a:avLst>
          </a:prstGeom>
          <a:solidFill>
            <a:srgbClr val="102234">
              <a:alpha val="72000"/>
            </a:srgbClr>
          </a:solidFill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FF5BF37-819C-4D38-853B-20BA319E2220}"/>
              </a:ext>
            </a:extLst>
          </p:cNvPr>
          <p:cNvSpPr>
            <a:spLocks noGrp="1"/>
          </p:cNvSpPr>
          <p:nvPr/>
        </p:nvSpPr>
        <p:spPr>
          <a:xfrm>
            <a:off x="3105150" y="2266950"/>
            <a:ext cx="1752600" cy="28575"/>
          </a:xfrm>
          <a:prstGeom prst="roundRect">
            <a:avLst>
              <a:gd name="adj" fmla="val 50000"/>
            </a:avLst>
          </a:prstGeom>
          <a:solidFill>
            <a:srgbClr val="37E8FF"/>
          </a:solidFill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3F62D40-C159-4164-8808-5DF5ACE635E5}"/>
              </a:ext>
            </a:extLst>
          </p:cNvPr>
          <p:cNvSpPr>
            <a:spLocks noGrp="1"/>
          </p:cNvSpPr>
          <p:nvPr/>
        </p:nvSpPr>
        <p:spPr>
          <a:xfrm>
            <a:off x="3238500" y="2419350"/>
            <a:ext cx="1485900" cy="285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6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SetMenu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123285B-D9D8-4635-BCCD-81E747CFB8E6}"/>
              </a:ext>
            </a:extLst>
          </p:cNvPr>
          <p:cNvSpPr>
            <a:spLocks noGrp="1"/>
          </p:cNvSpPr>
          <p:nvPr/>
        </p:nvSpPr>
        <p:spPr>
          <a:xfrm>
            <a:off x="3238500" y="2724150"/>
            <a:ext cx="14859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12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SetMenu1 / SetMenu2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3D0C4A1-6680-4A7A-A9F1-8C51BB64D38D}"/>
              </a:ext>
            </a:extLst>
          </p:cNvPr>
          <p:cNvSpPr>
            <a:spLocks noGrp="1"/>
          </p:cNvSpPr>
          <p:nvPr/>
        </p:nvSpPr>
        <p:spPr>
          <a:xfrm>
            <a:off x="4933950" y="2476500"/>
            <a:ext cx="4572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2550" b="1" i="0">
                <a:solidFill>
                  <a:srgbClr val="37E8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37E8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4D713B4-4658-46C7-B97D-2181937F9E29}"/>
              </a:ext>
            </a:extLst>
          </p:cNvPr>
          <p:cNvSpPr>
            <a:spLocks noGrp="1"/>
          </p:cNvSpPr>
          <p:nvPr/>
        </p:nvSpPr>
        <p:spPr>
          <a:xfrm>
            <a:off x="5562600" y="1924050"/>
            <a:ext cx="2038350" cy="876300"/>
          </a:xfrm>
          <a:prstGeom prst="roundRect">
            <a:avLst>
              <a:gd name="adj" fmla="val 13043"/>
            </a:avLst>
          </a:prstGeom>
          <a:solidFill>
            <a:srgbClr val="102234">
              <a:alpha val="72000"/>
            </a:srgbClr>
          </a:solidFill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F3062E9-2EB2-4457-A397-CA9CE0E54475}"/>
              </a:ext>
            </a:extLst>
          </p:cNvPr>
          <p:cNvSpPr>
            <a:spLocks noGrp="1"/>
          </p:cNvSpPr>
          <p:nvPr/>
        </p:nvSpPr>
        <p:spPr>
          <a:xfrm>
            <a:off x="5562600" y="1924050"/>
            <a:ext cx="2038350" cy="28575"/>
          </a:xfrm>
          <a:prstGeom prst="roundRect">
            <a:avLst>
              <a:gd name="adj" fmla="val 50000"/>
            </a:avLst>
          </a:prstGeom>
          <a:solidFill>
            <a:srgbClr val="FF9A3D"/>
          </a:solidFill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68DBCA4-1EC3-4FA5-B02D-882884E6E95D}"/>
              </a:ext>
            </a:extLst>
          </p:cNvPr>
          <p:cNvSpPr>
            <a:spLocks noGrp="1"/>
          </p:cNvSpPr>
          <p:nvPr/>
        </p:nvSpPr>
        <p:spPr>
          <a:xfrm>
            <a:off x="5695950" y="2076450"/>
            <a:ext cx="1771650" cy="285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6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GameScene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F28E60D-FDA6-4F26-9652-3D21491FF05A}"/>
              </a:ext>
            </a:extLst>
          </p:cNvPr>
          <p:cNvSpPr>
            <a:spLocks noGrp="1"/>
          </p:cNvSpPr>
          <p:nvPr/>
        </p:nvSpPr>
        <p:spPr>
          <a:xfrm>
            <a:off x="5695950" y="2381250"/>
            <a:ext cx="177165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12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GameScene1 / GameScene2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8C96B81-367D-4FE1-969C-AD6D2CE313D6}"/>
              </a:ext>
            </a:extLst>
          </p:cNvPr>
          <p:cNvSpPr>
            <a:spLocks noGrp="1"/>
          </p:cNvSpPr>
          <p:nvPr/>
        </p:nvSpPr>
        <p:spPr>
          <a:xfrm>
            <a:off x="5562600" y="3524250"/>
            <a:ext cx="2038350" cy="876300"/>
          </a:xfrm>
          <a:prstGeom prst="roundRect">
            <a:avLst>
              <a:gd name="adj" fmla="val 13043"/>
            </a:avLst>
          </a:prstGeom>
          <a:solidFill>
            <a:srgbClr val="102234">
              <a:alpha val="72000"/>
            </a:srgbClr>
          </a:solidFill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9249A46-F555-46A5-B27F-145784CD8266}"/>
              </a:ext>
            </a:extLst>
          </p:cNvPr>
          <p:cNvSpPr>
            <a:spLocks noGrp="1"/>
          </p:cNvSpPr>
          <p:nvPr/>
        </p:nvSpPr>
        <p:spPr>
          <a:xfrm>
            <a:off x="5562600" y="3524250"/>
            <a:ext cx="2038350" cy="28575"/>
          </a:xfrm>
          <a:prstGeom prst="roundRect">
            <a:avLst>
              <a:gd name="adj" fmla="val 50000"/>
            </a:avLst>
          </a:prstGeom>
          <a:solidFill>
            <a:srgbClr val="37E8FF"/>
          </a:solidFill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804651E-7FD5-4FD3-91E1-AFF1710B22A6}"/>
              </a:ext>
            </a:extLst>
          </p:cNvPr>
          <p:cNvSpPr>
            <a:spLocks noGrp="1"/>
          </p:cNvSpPr>
          <p:nvPr/>
        </p:nvSpPr>
        <p:spPr>
          <a:xfrm>
            <a:off x="5695950" y="3676650"/>
            <a:ext cx="1771650" cy="285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6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NetworkLobby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7894026-844C-4F5B-95AD-057ED752040A}"/>
              </a:ext>
            </a:extLst>
          </p:cNvPr>
          <p:cNvSpPr>
            <a:spLocks noGrp="1"/>
          </p:cNvSpPr>
          <p:nvPr/>
        </p:nvSpPr>
        <p:spPr>
          <a:xfrm>
            <a:off x="5695950" y="3981450"/>
            <a:ext cx="177165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12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创建或加入房间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72AE508-5633-4476-A455-108EC78C6CE1}"/>
              </a:ext>
            </a:extLst>
          </p:cNvPr>
          <p:cNvSpPr>
            <a:spLocks noGrp="1"/>
          </p:cNvSpPr>
          <p:nvPr/>
        </p:nvSpPr>
        <p:spPr>
          <a:xfrm>
            <a:off x="7696200" y="3733800"/>
            <a:ext cx="4572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2550" b="1" i="0">
                <a:solidFill>
                  <a:srgbClr val="37E8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37E8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396D8A37-5907-4BF2-BD03-B37186391614}"/>
              </a:ext>
            </a:extLst>
          </p:cNvPr>
          <p:cNvSpPr>
            <a:spLocks noGrp="1"/>
          </p:cNvSpPr>
          <p:nvPr/>
        </p:nvSpPr>
        <p:spPr>
          <a:xfrm>
            <a:off x="8305800" y="3524250"/>
            <a:ext cx="2209800" cy="876300"/>
          </a:xfrm>
          <a:prstGeom prst="roundRect">
            <a:avLst>
              <a:gd name="adj" fmla="val 13043"/>
            </a:avLst>
          </a:prstGeom>
          <a:solidFill>
            <a:srgbClr val="102234">
              <a:alpha val="72000"/>
            </a:srgbClr>
          </a:solidFill>
        </p:spPr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2131E97-CEF9-4FB7-9B08-748E6D778939}"/>
              </a:ext>
            </a:extLst>
          </p:cNvPr>
          <p:cNvSpPr>
            <a:spLocks noGrp="1"/>
          </p:cNvSpPr>
          <p:nvPr/>
        </p:nvSpPr>
        <p:spPr>
          <a:xfrm>
            <a:off x="8305800" y="3524250"/>
            <a:ext cx="2209800" cy="28575"/>
          </a:xfrm>
          <a:prstGeom prst="roundRect">
            <a:avLst>
              <a:gd name="adj" fmla="val 50000"/>
            </a:avLst>
          </a:prstGeom>
          <a:solidFill>
            <a:srgbClr val="37E8FF"/>
          </a:solidFill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510C446-EDDB-447F-B464-3860494F5834}"/>
              </a:ext>
            </a:extLst>
          </p:cNvPr>
          <p:cNvSpPr>
            <a:spLocks noGrp="1"/>
          </p:cNvSpPr>
          <p:nvPr/>
        </p:nvSpPr>
        <p:spPr>
          <a:xfrm>
            <a:off x="8439150" y="3676650"/>
            <a:ext cx="1943100" cy="285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6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NetworkGame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962B48-ABC4-4332-BED3-ECDF2AF18388}"/>
              </a:ext>
            </a:extLst>
          </p:cNvPr>
          <p:cNvSpPr>
            <a:spLocks noGrp="1"/>
          </p:cNvSpPr>
          <p:nvPr/>
        </p:nvSpPr>
        <p:spPr>
          <a:xfrm>
            <a:off x="8439150" y="3981450"/>
            <a:ext cx="19431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12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NetworkGameScene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3B7929E-7195-42D0-B29E-219F780206BD}"/>
              </a:ext>
            </a:extLst>
          </p:cNvPr>
          <p:cNvSpPr>
            <a:spLocks noGrp="1"/>
          </p:cNvSpPr>
          <p:nvPr/>
        </p:nvSpPr>
        <p:spPr>
          <a:xfrm>
            <a:off x="5638800" y="1809750"/>
            <a:ext cx="9525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200" b="1" i="0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rPr>
              <a:t>单机线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4247177-0686-449F-9F86-A764871CC5F7}"/>
              </a:ext>
            </a:extLst>
          </p:cNvPr>
          <p:cNvSpPr>
            <a:spLocks noGrp="1"/>
          </p:cNvSpPr>
          <p:nvPr/>
        </p:nvSpPr>
        <p:spPr>
          <a:xfrm>
            <a:off x="5638800" y="3143250"/>
            <a:ext cx="9525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2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rPr>
              <a:t>联机线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47E4AE3-855B-46AE-8E58-85CEEA59FFAC}"/>
              </a:ext>
            </a:extLst>
          </p:cNvPr>
          <p:cNvSpPr>
            <a:spLocks noGrp="1"/>
          </p:cNvSpPr>
          <p:nvPr/>
        </p:nvSpPr>
        <p:spPr>
          <a:xfrm>
            <a:off x="11049000" y="6153150"/>
            <a:ext cx="5334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r">
              <a:defRPr sz="1200" b="0" i="0">
                <a:solidFill>
                  <a:srgbClr val="F6FB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F6FB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267713D-F23A-4D2F-BCBF-BCB9B6F1BF91}"/>
              </a:ext>
            </a:extLst>
          </p:cNvPr>
          <p:cNvSpPr>
            <a:spLocks noGrp="1"/>
          </p:cNvSpPr>
          <p:nvPr/>
        </p:nvSpPr>
        <p:spPr>
          <a:xfrm>
            <a:off x="762000" y="6305550"/>
            <a:ext cx="9906000" cy="11430"/>
          </a:xfrm>
          <a:prstGeom prst="rect">
            <a:avLst/>
          </a:prstGeom>
          <a:solidFill>
            <a:srgbClr val="F6FBFF">
              <a:alpha val="16000"/>
            </a:srgbClr>
          </a:solidFill>
        </p:spPr>
      </p:sp>
    </p:spTree>
    <p:extLst>
      <p:ext uri="{BB962C8B-B14F-4D97-AF65-F5344CB8AC3E}">
        <p14:creationId xmlns:p14="http://schemas.microsoft.com/office/powerpoint/2010/main" val="854273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图片 50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7ACE649-4BE6-4F78-B85F-B24BFC2FBC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810">
              <a:alpha val="72000"/>
            </a:srgbClr>
          </a:solidFill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31438B2-2132-4FD3-A026-432845B7B4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40812">
                  <a:alpha val="92000"/>
                </a:srgbClr>
              </a:gs>
              <a:gs pos="48000">
                <a:srgbClr val="040812">
                  <a:alpha val="18000"/>
                </a:srgbClr>
              </a:gs>
              <a:gs pos="100000">
                <a:srgbClr val="040812">
                  <a:alpha val="78000"/>
                </a:srgbClr>
              </a:gs>
            </a:gsLst>
            <a:lin ang="0"/>
          </a:gradFill>
        </p:spPr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EA2FFF6-93DF-4115-9F51-FA927CCE32D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7E8FF"/>
          </a:solidFill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4F1612F-CFF1-43C8-8FF7-B2592EE375A3}"/>
              </a:ext>
            </a:extLst>
          </p:cNvPr>
          <p:cNvSpPr>
            <a:spLocks noGrp="1"/>
          </p:cNvSpPr>
          <p:nvPr/>
        </p:nvSpPr>
        <p:spPr>
          <a:xfrm>
            <a:off x="742950" y="4572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2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rPr>
              <a:t>CONTROL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BF66D18-4EA4-42BD-B5F3-35D37CC94456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28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操作被压缩成一组高频动作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B1734B8-82A5-477B-A3EB-1ED1FAE69ACE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6858000" cy="4000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500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移动、输出、技能和音乐控制都能直接通过键盘完成。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0442053-EB42-4C36-A3F5-E05EF6774D63}"/>
              </a:ext>
            </a:extLst>
          </p:cNvPr>
          <p:cNvSpPr>
            <a:spLocks noGrp="1"/>
          </p:cNvSpPr>
          <p:nvPr/>
        </p:nvSpPr>
        <p:spPr>
          <a:xfrm>
            <a:off x="895350" y="2305050"/>
            <a:ext cx="800100" cy="609600"/>
          </a:xfrm>
          <a:prstGeom prst="roundRect">
            <a:avLst>
              <a:gd name="adj" fmla="val 15625"/>
            </a:avLst>
          </a:prstGeom>
          <a:solidFill>
            <a:srgbClr val="0A2032">
              <a:alpha val="92000"/>
            </a:srgbClr>
          </a:solidFill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A9D5DE3-25F3-4F87-91A7-453117582811}"/>
              </a:ext>
            </a:extLst>
          </p:cNvPr>
          <p:cNvSpPr>
            <a:spLocks noGrp="1"/>
          </p:cNvSpPr>
          <p:nvPr/>
        </p:nvSpPr>
        <p:spPr>
          <a:xfrm>
            <a:off x="895350" y="2305050"/>
            <a:ext cx="800100" cy="24765"/>
          </a:xfrm>
          <a:prstGeom prst="roundRect">
            <a:avLst>
              <a:gd name="adj" fmla="val 50000"/>
            </a:avLst>
          </a:prstGeom>
          <a:solidFill>
            <a:srgbClr val="37E8FF"/>
          </a:solidFill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72C637D-4E78-41C6-A891-324E20E9B2D4}"/>
              </a:ext>
            </a:extLst>
          </p:cNvPr>
          <p:cNvSpPr>
            <a:spLocks noGrp="1"/>
          </p:cNvSpPr>
          <p:nvPr/>
        </p:nvSpPr>
        <p:spPr>
          <a:xfrm>
            <a:off x="895350" y="2381250"/>
            <a:ext cx="800100" cy="285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80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AC4937-EA8E-4C18-87E9-9B49EBC71A15}"/>
              </a:ext>
            </a:extLst>
          </p:cNvPr>
          <p:cNvSpPr>
            <a:spLocks noGrp="1"/>
          </p:cNvSpPr>
          <p:nvPr/>
        </p:nvSpPr>
        <p:spPr>
          <a:xfrm>
            <a:off x="952500" y="2676525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97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左移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B048F27-144A-46DE-8982-5D6528841771}"/>
              </a:ext>
            </a:extLst>
          </p:cNvPr>
          <p:cNvSpPr>
            <a:spLocks noGrp="1"/>
          </p:cNvSpPr>
          <p:nvPr/>
        </p:nvSpPr>
        <p:spPr>
          <a:xfrm>
            <a:off x="1809750" y="2305050"/>
            <a:ext cx="800100" cy="609600"/>
          </a:xfrm>
          <a:prstGeom prst="roundRect">
            <a:avLst>
              <a:gd name="adj" fmla="val 15625"/>
            </a:avLst>
          </a:prstGeom>
          <a:solidFill>
            <a:srgbClr val="0A2032">
              <a:alpha val="92000"/>
            </a:srgbClr>
          </a:solidFill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DB934F6-DA32-49E4-BB76-C5415EB11E2B}"/>
              </a:ext>
            </a:extLst>
          </p:cNvPr>
          <p:cNvSpPr>
            <a:spLocks noGrp="1"/>
          </p:cNvSpPr>
          <p:nvPr/>
        </p:nvSpPr>
        <p:spPr>
          <a:xfrm>
            <a:off x="1809750" y="2305050"/>
            <a:ext cx="800100" cy="24765"/>
          </a:xfrm>
          <a:prstGeom prst="roundRect">
            <a:avLst>
              <a:gd name="adj" fmla="val 50000"/>
            </a:avLst>
          </a:prstGeom>
          <a:solidFill>
            <a:srgbClr val="37E8FF"/>
          </a:solidFill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CCCE444-2FBD-4D6A-9D50-BF3D6514C131}"/>
              </a:ext>
            </a:extLst>
          </p:cNvPr>
          <p:cNvSpPr>
            <a:spLocks noGrp="1"/>
          </p:cNvSpPr>
          <p:nvPr/>
        </p:nvSpPr>
        <p:spPr>
          <a:xfrm>
            <a:off x="1809750" y="2381250"/>
            <a:ext cx="800100" cy="285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80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C411E35-C3E7-4F86-BFD0-5BC7B351C056}"/>
              </a:ext>
            </a:extLst>
          </p:cNvPr>
          <p:cNvSpPr>
            <a:spLocks noGrp="1"/>
          </p:cNvSpPr>
          <p:nvPr/>
        </p:nvSpPr>
        <p:spPr>
          <a:xfrm>
            <a:off x="1866900" y="2676525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97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右移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D1F3A62-4B48-4575-910C-0DCA51C8CE5E}"/>
              </a:ext>
            </a:extLst>
          </p:cNvPr>
          <p:cNvSpPr>
            <a:spLocks noGrp="1"/>
          </p:cNvSpPr>
          <p:nvPr/>
        </p:nvSpPr>
        <p:spPr>
          <a:xfrm>
            <a:off x="2952750" y="2305050"/>
            <a:ext cx="1790700" cy="609600"/>
          </a:xfrm>
          <a:prstGeom prst="roundRect">
            <a:avLst>
              <a:gd name="adj" fmla="val 15625"/>
            </a:avLst>
          </a:prstGeom>
          <a:solidFill>
            <a:srgbClr val="0A2032">
              <a:alpha val="92000"/>
            </a:srgbClr>
          </a:solidFill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476B95A-DD9F-4DE8-8C12-2BFA409E1A6E}"/>
              </a:ext>
            </a:extLst>
          </p:cNvPr>
          <p:cNvSpPr>
            <a:spLocks noGrp="1"/>
          </p:cNvSpPr>
          <p:nvPr/>
        </p:nvSpPr>
        <p:spPr>
          <a:xfrm>
            <a:off x="2952750" y="2305050"/>
            <a:ext cx="1790700" cy="24765"/>
          </a:xfrm>
          <a:prstGeom prst="roundRect">
            <a:avLst>
              <a:gd name="adj" fmla="val 50000"/>
            </a:avLst>
          </a:prstGeom>
          <a:solidFill>
            <a:srgbClr val="FF9A3D"/>
          </a:solidFill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D8863B2-158E-48B2-B892-9C7C6D0E4209}"/>
              </a:ext>
            </a:extLst>
          </p:cNvPr>
          <p:cNvSpPr>
            <a:spLocks noGrp="1"/>
          </p:cNvSpPr>
          <p:nvPr/>
        </p:nvSpPr>
        <p:spPr>
          <a:xfrm>
            <a:off x="2952750" y="2381250"/>
            <a:ext cx="1790700" cy="285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80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SPACE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DA877E0-2A1B-4054-B558-6DECA297C3D6}"/>
              </a:ext>
            </a:extLst>
          </p:cNvPr>
          <p:cNvSpPr>
            <a:spLocks noGrp="1"/>
          </p:cNvSpPr>
          <p:nvPr/>
        </p:nvSpPr>
        <p:spPr>
          <a:xfrm>
            <a:off x="3009900" y="2676525"/>
            <a:ext cx="16764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97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普通射击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F5AB708-DD20-498D-83E4-6411813E5F13}"/>
              </a:ext>
            </a:extLst>
          </p:cNvPr>
          <p:cNvSpPr>
            <a:spLocks noGrp="1"/>
          </p:cNvSpPr>
          <p:nvPr/>
        </p:nvSpPr>
        <p:spPr>
          <a:xfrm>
            <a:off x="895350" y="3409950"/>
            <a:ext cx="800100" cy="609600"/>
          </a:xfrm>
          <a:prstGeom prst="roundRect">
            <a:avLst>
              <a:gd name="adj" fmla="val 15625"/>
            </a:avLst>
          </a:prstGeom>
          <a:solidFill>
            <a:srgbClr val="0A2032">
              <a:alpha val="92000"/>
            </a:srgbClr>
          </a:solidFill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F49F1891-4B67-404D-B786-71E30613FA30}"/>
              </a:ext>
            </a:extLst>
          </p:cNvPr>
          <p:cNvSpPr>
            <a:spLocks noGrp="1"/>
          </p:cNvSpPr>
          <p:nvPr/>
        </p:nvSpPr>
        <p:spPr>
          <a:xfrm>
            <a:off x="895350" y="3409950"/>
            <a:ext cx="800100" cy="24765"/>
          </a:xfrm>
          <a:prstGeom prst="roundRect">
            <a:avLst>
              <a:gd name="adj" fmla="val 50000"/>
            </a:avLst>
          </a:prstGeom>
          <a:solidFill>
            <a:srgbClr val="37E8FF"/>
          </a:solidFill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6BD7809-9B3E-4F6C-8650-92B948E0A8F1}"/>
              </a:ext>
            </a:extLst>
          </p:cNvPr>
          <p:cNvSpPr>
            <a:spLocks noGrp="1"/>
          </p:cNvSpPr>
          <p:nvPr/>
        </p:nvSpPr>
        <p:spPr>
          <a:xfrm>
            <a:off x="895350" y="3486150"/>
            <a:ext cx="800100" cy="285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80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X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5AB016F-0901-4B26-8CA4-5C8454B1D855}"/>
              </a:ext>
            </a:extLst>
          </p:cNvPr>
          <p:cNvSpPr>
            <a:spLocks noGrp="1"/>
          </p:cNvSpPr>
          <p:nvPr/>
        </p:nvSpPr>
        <p:spPr>
          <a:xfrm>
            <a:off x="952500" y="3781425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97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护盾齐射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6F48CDBB-775D-44A8-93BB-D9045C7D11B0}"/>
              </a:ext>
            </a:extLst>
          </p:cNvPr>
          <p:cNvSpPr>
            <a:spLocks noGrp="1"/>
          </p:cNvSpPr>
          <p:nvPr/>
        </p:nvSpPr>
        <p:spPr>
          <a:xfrm>
            <a:off x="1809750" y="3409950"/>
            <a:ext cx="800100" cy="609600"/>
          </a:xfrm>
          <a:prstGeom prst="roundRect">
            <a:avLst>
              <a:gd name="adj" fmla="val 15625"/>
            </a:avLst>
          </a:prstGeom>
          <a:solidFill>
            <a:srgbClr val="0A2032">
              <a:alpha val="92000"/>
            </a:srgbClr>
          </a:solidFill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BCC9A0F7-8604-4D0C-899C-C13466A87829}"/>
              </a:ext>
            </a:extLst>
          </p:cNvPr>
          <p:cNvSpPr>
            <a:spLocks noGrp="1"/>
          </p:cNvSpPr>
          <p:nvPr/>
        </p:nvSpPr>
        <p:spPr>
          <a:xfrm>
            <a:off x="1809750" y="3409950"/>
            <a:ext cx="800100" cy="24765"/>
          </a:xfrm>
          <a:prstGeom prst="roundRect">
            <a:avLst>
              <a:gd name="adj" fmla="val 50000"/>
            </a:avLst>
          </a:prstGeom>
          <a:solidFill>
            <a:srgbClr val="FF9A3D"/>
          </a:solidFill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9F793E4-D0E6-410C-8CB0-35B67BF930F0}"/>
              </a:ext>
            </a:extLst>
          </p:cNvPr>
          <p:cNvSpPr>
            <a:spLocks noGrp="1"/>
          </p:cNvSpPr>
          <p:nvPr/>
        </p:nvSpPr>
        <p:spPr>
          <a:xfrm>
            <a:off x="1809750" y="3486150"/>
            <a:ext cx="800100" cy="285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80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CFEECFB-1BC8-4AB9-9515-F4D50E035A54}"/>
              </a:ext>
            </a:extLst>
          </p:cNvPr>
          <p:cNvSpPr>
            <a:spLocks noGrp="1"/>
          </p:cNvSpPr>
          <p:nvPr/>
        </p:nvSpPr>
        <p:spPr>
          <a:xfrm>
            <a:off x="1866900" y="3781425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97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激光爆发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CB02BB9-63AA-4062-9BD7-77D7CCDA984F}"/>
              </a:ext>
            </a:extLst>
          </p:cNvPr>
          <p:cNvSpPr>
            <a:spLocks noGrp="1"/>
          </p:cNvSpPr>
          <p:nvPr/>
        </p:nvSpPr>
        <p:spPr>
          <a:xfrm>
            <a:off x="2724150" y="3409950"/>
            <a:ext cx="800100" cy="609600"/>
          </a:xfrm>
          <a:prstGeom prst="roundRect">
            <a:avLst>
              <a:gd name="adj" fmla="val 15625"/>
            </a:avLst>
          </a:prstGeom>
          <a:solidFill>
            <a:srgbClr val="0A2032">
              <a:alpha val="92000"/>
            </a:srgbClr>
          </a:solidFill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B74F779E-885D-485A-878C-7B79B5784210}"/>
              </a:ext>
            </a:extLst>
          </p:cNvPr>
          <p:cNvSpPr>
            <a:spLocks noGrp="1"/>
          </p:cNvSpPr>
          <p:nvPr/>
        </p:nvSpPr>
        <p:spPr>
          <a:xfrm>
            <a:off x="2724150" y="3409950"/>
            <a:ext cx="800100" cy="24765"/>
          </a:xfrm>
          <a:prstGeom prst="roundRect">
            <a:avLst>
              <a:gd name="adj" fmla="val 50000"/>
            </a:avLst>
          </a:prstGeom>
          <a:solidFill>
            <a:srgbClr val="FF4B36"/>
          </a:solidFill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13A2F8F-8FD3-4E4C-991A-0B353DF704FF}"/>
              </a:ext>
            </a:extLst>
          </p:cNvPr>
          <p:cNvSpPr>
            <a:spLocks noGrp="1"/>
          </p:cNvSpPr>
          <p:nvPr/>
        </p:nvSpPr>
        <p:spPr>
          <a:xfrm>
            <a:off x="2724150" y="3486150"/>
            <a:ext cx="800100" cy="285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80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V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1ABD429-1A67-41B4-BFF5-CC108BD07B02}"/>
              </a:ext>
            </a:extLst>
          </p:cNvPr>
          <p:cNvSpPr>
            <a:spLocks noGrp="1"/>
          </p:cNvSpPr>
          <p:nvPr/>
        </p:nvSpPr>
        <p:spPr>
          <a:xfrm>
            <a:off x="2781300" y="3781425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97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虚空坍缩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BC1AD4E6-577E-44DE-B2DD-8252CB23EA50}"/>
              </a:ext>
            </a:extLst>
          </p:cNvPr>
          <p:cNvSpPr>
            <a:spLocks noGrp="1"/>
          </p:cNvSpPr>
          <p:nvPr/>
        </p:nvSpPr>
        <p:spPr>
          <a:xfrm>
            <a:off x="6191250" y="2857500"/>
            <a:ext cx="800100" cy="609600"/>
          </a:xfrm>
          <a:prstGeom prst="roundRect">
            <a:avLst>
              <a:gd name="adj" fmla="val 15625"/>
            </a:avLst>
          </a:prstGeom>
          <a:solidFill>
            <a:srgbClr val="0A2032">
              <a:alpha val="92000"/>
            </a:srgbClr>
          </a:solidFill>
        </p:spPr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46089BB1-C682-4AC1-9370-9D9A290A58FE}"/>
              </a:ext>
            </a:extLst>
          </p:cNvPr>
          <p:cNvSpPr>
            <a:spLocks noGrp="1"/>
          </p:cNvSpPr>
          <p:nvPr/>
        </p:nvSpPr>
        <p:spPr>
          <a:xfrm>
            <a:off x="6191250" y="2857500"/>
            <a:ext cx="800100" cy="24765"/>
          </a:xfrm>
          <a:prstGeom prst="roundRect">
            <a:avLst>
              <a:gd name="adj" fmla="val 50000"/>
            </a:avLst>
          </a:prstGeom>
          <a:solidFill>
            <a:srgbClr val="37E8FF"/>
          </a:solidFill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9998AEA-618C-4CFA-B0B7-BD449EDB3E99}"/>
              </a:ext>
            </a:extLst>
          </p:cNvPr>
          <p:cNvSpPr>
            <a:spLocks noGrp="1"/>
          </p:cNvSpPr>
          <p:nvPr/>
        </p:nvSpPr>
        <p:spPr>
          <a:xfrm>
            <a:off x="6191250" y="2933700"/>
            <a:ext cx="800100" cy="285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80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52ACA4B-F476-47B7-98A7-F958F1514B83}"/>
              </a:ext>
            </a:extLst>
          </p:cNvPr>
          <p:cNvSpPr>
            <a:spLocks noGrp="1"/>
          </p:cNvSpPr>
          <p:nvPr/>
        </p:nvSpPr>
        <p:spPr>
          <a:xfrm>
            <a:off x="6248400" y="3228975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97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BGM菜单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FA43D0C8-0074-4F43-B905-721A516A3041}"/>
              </a:ext>
            </a:extLst>
          </p:cNvPr>
          <p:cNvSpPr>
            <a:spLocks noGrp="1"/>
          </p:cNvSpPr>
          <p:nvPr/>
        </p:nvSpPr>
        <p:spPr>
          <a:xfrm>
            <a:off x="7105650" y="2857500"/>
            <a:ext cx="800100" cy="609600"/>
          </a:xfrm>
          <a:prstGeom prst="roundRect">
            <a:avLst>
              <a:gd name="adj" fmla="val 15625"/>
            </a:avLst>
          </a:prstGeom>
          <a:solidFill>
            <a:srgbClr val="0A2032">
              <a:alpha val="92000"/>
            </a:srgbClr>
          </a:solidFill>
        </p:spPr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D66AE830-4180-4CBA-87B8-C4E963220FB2}"/>
              </a:ext>
            </a:extLst>
          </p:cNvPr>
          <p:cNvSpPr>
            <a:spLocks noGrp="1"/>
          </p:cNvSpPr>
          <p:nvPr/>
        </p:nvSpPr>
        <p:spPr>
          <a:xfrm>
            <a:off x="7105650" y="2857500"/>
            <a:ext cx="800100" cy="24765"/>
          </a:xfrm>
          <a:prstGeom prst="roundRect">
            <a:avLst>
              <a:gd name="adj" fmla="val 50000"/>
            </a:avLst>
          </a:prstGeom>
          <a:solidFill>
            <a:srgbClr val="37E8FF"/>
          </a:solidFill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9A6F4CA-8D54-4836-81EA-EF3027F9CCF0}"/>
              </a:ext>
            </a:extLst>
          </p:cNvPr>
          <p:cNvSpPr>
            <a:spLocks noGrp="1"/>
          </p:cNvSpPr>
          <p:nvPr/>
        </p:nvSpPr>
        <p:spPr>
          <a:xfrm>
            <a:off x="7105650" y="2933700"/>
            <a:ext cx="800100" cy="285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80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M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43074A0-B4D1-45F9-96D5-3DA4EBFC4F8D}"/>
              </a:ext>
            </a:extLst>
          </p:cNvPr>
          <p:cNvSpPr>
            <a:spLocks noGrp="1"/>
          </p:cNvSpPr>
          <p:nvPr/>
        </p:nvSpPr>
        <p:spPr>
          <a:xfrm>
            <a:off x="7162800" y="3228975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97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静音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ACB5B1D0-407A-43AE-A680-67C93C0E5E97}"/>
              </a:ext>
            </a:extLst>
          </p:cNvPr>
          <p:cNvSpPr>
            <a:spLocks noGrp="1"/>
          </p:cNvSpPr>
          <p:nvPr/>
        </p:nvSpPr>
        <p:spPr>
          <a:xfrm>
            <a:off x="8020050" y="2857500"/>
            <a:ext cx="990600" cy="609600"/>
          </a:xfrm>
          <a:prstGeom prst="roundRect">
            <a:avLst>
              <a:gd name="adj" fmla="val 15625"/>
            </a:avLst>
          </a:prstGeom>
          <a:solidFill>
            <a:srgbClr val="0A2032">
              <a:alpha val="92000"/>
            </a:srgbClr>
          </a:solidFill>
        </p:spPr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3F7A34ED-B5D6-4382-9897-52A7708B2B36}"/>
              </a:ext>
            </a:extLst>
          </p:cNvPr>
          <p:cNvSpPr>
            <a:spLocks noGrp="1"/>
          </p:cNvSpPr>
          <p:nvPr/>
        </p:nvSpPr>
        <p:spPr>
          <a:xfrm>
            <a:off x="8020050" y="2857500"/>
            <a:ext cx="990600" cy="24765"/>
          </a:xfrm>
          <a:prstGeom prst="roundRect">
            <a:avLst>
              <a:gd name="adj" fmla="val 50000"/>
            </a:avLst>
          </a:prstGeom>
          <a:solidFill>
            <a:srgbClr val="FF9A3D"/>
          </a:solidFill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B4EA497-1FA7-4BE9-B354-032D543CBB73}"/>
              </a:ext>
            </a:extLst>
          </p:cNvPr>
          <p:cNvSpPr>
            <a:spLocks noGrp="1"/>
          </p:cNvSpPr>
          <p:nvPr/>
        </p:nvSpPr>
        <p:spPr>
          <a:xfrm>
            <a:off x="8020050" y="2933700"/>
            <a:ext cx="990600" cy="285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80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[ / ]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C11D2CA-71CD-41F2-BFF7-55BBA6D07667}"/>
              </a:ext>
            </a:extLst>
          </p:cNvPr>
          <p:cNvSpPr>
            <a:spLocks noGrp="1"/>
          </p:cNvSpPr>
          <p:nvPr/>
        </p:nvSpPr>
        <p:spPr>
          <a:xfrm>
            <a:off x="8077200" y="3228975"/>
            <a:ext cx="876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97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切歌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C30837AD-DB52-4519-AF38-E7A3EDA26C3B}"/>
              </a:ext>
            </a:extLst>
          </p:cNvPr>
          <p:cNvSpPr>
            <a:spLocks noGrp="1"/>
          </p:cNvSpPr>
          <p:nvPr/>
        </p:nvSpPr>
        <p:spPr>
          <a:xfrm>
            <a:off x="9124950" y="2857500"/>
            <a:ext cx="990600" cy="609600"/>
          </a:xfrm>
          <a:prstGeom prst="roundRect">
            <a:avLst>
              <a:gd name="adj" fmla="val 15625"/>
            </a:avLst>
          </a:prstGeom>
          <a:solidFill>
            <a:srgbClr val="0A2032">
              <a:alpha val="92000"/>
            </a:srgbClr>
          </a:solidFill>
        </p:spPr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55CEA9A9-1D4F-4A28-AB75-25B1B2D1FB67}"/>
              </a:ext>
            </a:extLst>
          </p:cNvPr>
          <p:cNvSpPr>
            <a:spLocks noGrp="1"/>
          </p:cNvSpPr>
          <p:nvPr/>
        </p:nvSpPr>
        <p:spPr>
          <a:xfrm>
            <a:off x="9124950" y="2857500"/>
            <a:ext cx="990600" cy="24765"/>
          </a:xfrm>
          <a:prstGeom prst="roundRect">
            <a:avLst>
              <a:gd name="adj" fmla="val 50000"/>
            </a:avLst>
          </a:prstGeom>
          <a:solidFill>
            <a:srgbClr val="FF9A3D"/>
          </a:solidFill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71B51F5-F069-4AD8-91A2-6F79F2BBE177}"/>
              </a:ext>
            </a:extLst>
          </p:cNvPr>
          <p:cNvSpPr>
            <a:spLocks noGrp="1"/>
          </p:cNvSpPr>
          <p:nvPr/>
        </p:nvSpPr>
        <p:spPr>
          <a:xfrm>
            <a:off x="9124950" y="2933700"/>
            <a:ext cx="990600" cy="285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80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+ / -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CAAFB45-8DAD-4976-A462-73E8F346F6DE}"/>
              </a:ext>
            </a:extLst>
          </p:cNvPr>
          <p:cNvSpPr>
            <a:spLocks noGrp="1"/>
          </p:cNvSpPr>
          <p:nvPr/>
        </p:nvSpPr>
        <p:spPr>
          <a:xfrm>
            <a:off x="9182100" y="3228975"/>
            <a:ext cx="876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97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音量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1563CA6-7334-4E0C-B76F-1E790FE53DB3}"/>
              </a:ext>
            </a:extLst>
          </p:cNvPr>
          <p:cNvSpPr>
            <a:spLocks noGrp="1"/>
          </p:cNvSpPr>
          <p:nvPr/>
        </p:nvSpPr>
        <p:spPr>
          <a:xfrm>
            <a:off x="6229350" y="4000500"/>
            <a:ext cx="4000500" cy="4000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6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左手保持移动与技能，右手负责射击节奏。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8891691-CAAB-440A-B752-8B0092DC4059}"/>
              </a:ext>
            </a:extLst>
          </p:cNvPr>
          <p:cNvSpPr>
            <a:spLocks noGrp="1"/>
          </p:cNvSpPr>
          <p:nvPr/>
        </p:nvSpPr>
        <p:spPr>
          <a:xfrm>
            <a:off x="11049000" y="6153150"/>
            <a:ext cx="5334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r">
              <a:defRPr sz="1200" b="0" i="0">
                <a:solidFill>
                  <a:srgbClr val="F6FB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F6FB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C203F64-6DF3-4C14-881E-6C25FA6E2773}"/>
              </a:ext>
            </a:extLst>
          </p:cNvPr>
          <p:cNvSpPr>
            <a:spLocks noGrp="1"/>
          </p:cNvSpPr>
          <p:nvPr/>
        </p:nvSpPr>
        <p:spPr>
          <a:xfrm>
            <a:off x="762000" y="6305550"/>
            <a:ext cx="9906000" cy="11430"/>
          </a:xfrm>
          <a:prstGeom prst="rect">
            <a:avLst/>
          </a:prstGeom>
          <a:solidFill>
            <a:srgbClr val="F6FBFF">
              <a:alpha val="16000"/>
            </a:srgbClr>
          </a:solidFill>
        </p:spPr>
      </p:sp>
    </p:spTree>
    <p:extLst>
      <p:ext uri="{BB962C8B-B14F-4D97-AF65-F5344CB8AC3E}">
        <p14:creationId xmlns:p14="http://schemas.microsoft.com/office/powerpoint/2010/main" val="1017566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9C4D476D-6BD3-4CBB-8E0F-2732E60F86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E1D641-04E4-4577-9107-01A0654DC7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905500" cy="5334000"/>
          </a:xfrm>
          <a:prstGeom prst="rect">
            <a:avLst/>
          </a:prstGeom>
          <a:gradFill>
            <a:gsLst>
              <a:gs pos="0">
                <a:srgbClr val="123454"/>
              </a:gs>
              <a:gs pos="74000">
                <a:srgbClr val="07111F">
                  <a:alpha val="0"/>
                </a:srgbClr>
              </a:gs>
            </a:gsLst>
            <a:path path="shape"/>
          </a:gradFill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C6D105-626D-4DED-BFCD-1072808875C5}"/>
              </a:ext>
            </a:extLst>
          </p:cNvPr>
          <p:cNvSpPr>
            <a:spLocks noGrp="1"/>
          </p:cNvSpPr>
          <p:nvPr/>
        </p:nvSpPr>
        <p:spPr>
          <a:xfrm>
            <a:off x="7524750" y="1047750"/>
            <a:ext cx="4191000" cy="4191000"/>
          </a:xfrm>
          <a:prstGeom prst="rect">
            <a:avLst/>
          </a:prstGeom>
          <a:gradFill>
            <a:gsLst>
              <a:gs pos="0">
                <a:srgbClr val="FF5824">
                  <a:alpha val="18000"/>
                </a:srgbClr>
              </a:gs>
              <a:gs pos="70000">
                <a:srgbClr val="07111F">
                  <a:alpha val="0"/>
                </a:srgbClr>
              </a:gs>
            </a:gsLst>
            <a:path path="shape"/>
          </a:gradFill>
        </p:spPr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E4E7224-C2DA-4007-8715-DE77E11CAD2B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7E8FF"/>
          </a:solidFill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BF9050-2811-4AFC-8E56-B48CFF0E6875}"/>
              </a:ext>
            </a:extLst>
          </p:cNvPr>
          <p:cNvSpPr>
            <a:spLocks noGrp="1"/>
          </p:cNvSpPr>
          <p:nvPr/>
        </p:nvSpPr>
        <p:spPr>
          <a:xfrm>
            <a:off x="742950" y="4572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2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rPr>
              <a:t>SKILLS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9E8BC66-C09A-435E-AE3F-20F525EBF335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28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三种技能承担不同战斗职责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0703CA7-683E-4642-927D-9290A5599555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6858000" cy="4000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500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技能次数来自普通击杀充能，使用时机决定生存空间。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E39DDEB-FFA0-4703-B2BB-F5A3FC22ACBA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3028950" cy="2381250"/>
          </a:xfrm>
          <a:prstGeom prst="roundRect">
            <a:avLst>
              <a:gd name="adj" fmla="val 4800"/>
            </a:avLst>
          </a:prstGeom>
          <a:solidFill>
            <a:srgbClr val="091B2C">
              <a:alpha val="84000"/>
            </a:srgbClr>
          </a:solidFill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5FD1D44-FF47-43FE-B421-C7CB5B595850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3028950" cy="38100"/>
          </a:xfrm>
          <a:prstGeom prst="roundRect">
            <a:avLst>
              <a:gd name="adj" fmla="val 50000"/>
            </a:avLst>
          </a:prstGeom>
          <a:solidFill>
            <a:srgbClr val="37E8FF"/>
          </a:solidFill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1D313E4-0D72-4186-AC48-42509D303A0A}"/>
              </a:ext>
            </a:extLst>
          </p:cNvPr>
          <p:cNvSpPr>
            <a:spLocks noGrp="1"/>
          </p:cNvSpPr>
          <p:nvPr/>
        </p:nvSpPr>
        <p:spPr>
          <a:xfrm>
            <a:off x="1238250" y="276225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37E8FF"/>
          </a:solidFill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844F9A2-788B-4689-B400-63A5F29A9BF3}"/>
              </a:ext>
            </a:extLst>
          </p:cNvPr>
          <p:cNvSpPr>
            <a:spLocks noGrp="1"/>
          </p:cNvSpPr>
          <p:nvPr/>
        </p:nvSpPr>
        <p:spPr>
          <a:xfrm>
            <a:off x="1238250" y="2800350"/>
            <a:ext cx="685800" cy="571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2550" b="1" i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X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E983C42-DFD8-41B3-A363-0095E3B47FD0}"/>
              </a:ext>
            </a:extLst>
          </p:cNvPr>
          <p:cNvSpPr>
            <a:spLocks noGrp="1"/>
          </p:cNvSpPr>
          <p:nvPr/>
        </p:nvSpPr>
        <p:spPr>
          <a:xfrm>
            <a:off x="2114550" y="2724150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9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护盾齐射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C0A4831-82F1-4C5D-824D-07DC26811275}"/>
              </a:ext>
            </a:extLst>
          </p:cNvPr>
          <p:cNvSpPr>
            <a:spLocks noGrp="1"/>
          </p:cNvSpPr>
          <p:nvPr/>
        </p:nvSpPr>
        <p:spPr>
          <a:xfrm>
            <a:off x="2114550" y="3162300"/>
            <a:ext cx="161925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27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短时间护盾 + 扇形弹幕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B4746AA-1A8E-4597-A12E-E2DE67B0AE0A}"/>
              </a:ext>
            </a:extLst>
          </p:cNvPr>
          <p:cNvSpPr>
            <a:spLocks noGrp="1"/>
          </p:cNvSpPr>
          <p:nvPr/>
        </p:nvSpPr>
        <p:spPr>
          <a:xfrm>
            <a:off x="1276350" y="4038600"/>
            <a:ext cx="2381250" cy="3619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425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rPr>
              <a:t>被敌机压近时救场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0322F7A-478B-45E6-9A5F-3251AFE5A93D}"/>
              </a:ext>
            </a:extLst>
          </p:cNvPr>
          <p:cNvSpPr>
            <a:spLocks noGrp="1"/>
          </p:cNvSpPr>
          <p:nvPr/>
        </p:nvSpPr>
        <p:spPr>
          <a:xfrm>
            <a:off x="4610100" y="2400300"/>
            <a:ext cx="3028950" cy="2381250"/>
          </a:xfrm>
          <a:prstGeom prst="roundRect">
            <a:avLst>
              <a:gd name="adj" fmla="val 4800"/>
            </a:avLst>
          </a:prstGeom>
          <a:solidFill>
            <a:srgbClr val="091B2C">
              <a:alpha val="84000"/>
            </a:srgbClr>
          </a:solidFill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5390670-D138-4EDE-8D12-EA7224672BFC}"/>
              </a:ext>
            </a:extLst>
          </p:cNvPr>
          <p:cNvSpPr>
            <a:spLocks noGrp="1"/>
          </p:cNvSpPr>
          <p:nvPr/>
        </p:nvSpPr>
        <p:spPr>
          <a:xfrm>
            <a:off x="4610100" y="2400300"/>
            <a:ext cx="3028950" cy="38100"/>
          </a:xfrm>
          <a:prstGeom prst="roundRect">
            <a:avLst>
              <a:gd name="adj" fmla="val 50000"/>
            </a:avLst>
          </a:prstGeom>
          <a:solidFill>
            <a:srgbClr val="FF9A3D"/>
          </a:solidFill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15F0565-3694-478B-8621-6BD530FD4F18}"/>
              </a:ext>
            </a:extLst>
          </p:cNvPr>
          <p:cNvSpPr>
            <a:spLocks noGrp="1"/>
          </p:cNvSpPr>
          <p:nvPr/>
        </p:nvSpPr>
        <p:spPr>
          <a:xfrm>
            <a:off x="4857750" y="276225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FF9A3D"/>
          </a:solidFill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E102DDF-75EE-4461-A662-1488A3D4B94B}"/>
              </a:ext>
            </a:extLst>
          </p:cNvPr>
          <p:cNvSpPr>
            <a:spLocks noGrp="1"/>
          </p:cNvSpPr>
          <p:nvPr/>
        </p:nvSpPr>
        <p:spPr>
          <a:xfrm>
            <a:off x="4857750" y="2800350"/>
            <a:ext cx="685800" cy="571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2550" b="1" i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255EBC0-5F64-47F1-BBD0-859939F596A8}"/>
              </a:ext>
            </a:extLst>
          </p:cNvPr>
          <p:cNvSpPr>
            <a:spLocks noGrp="1"/>
          </p:cNvSpPr>
          <p:nvPr/>
        </p:nvSpPr>
        <p:spPr>
          <a:xfrm>
            <a:off x="5734050" y="2724150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9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激光爆发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A923530-619F-4BD1-925D-A518006F370F}"/>
              </a:ext>
            </a:extLst>
          </p:cNvPr>
          <p:cNvSpPr>
            <a:spLocks noGrp="1"/>
          </p:cNvSpPr>
          <p:nvPr/>
        </p:nvSpPr>
        <p:spPr>
          <a:xfrm>
            <a:off x="5734050" y="3162300"/>
            <a:ext cx="161925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27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前方持续高压输出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503E961-618E-4715-BAF1-CA38017D94AB}"/>
              </a:ext>
            </a:extLst>
          </p:cNvPr>
          <p:cNvSpPr>
            <a:spLocks noGrp="1"/>
          </p:cNvSpPr>
          <p:nvPr/>
        </p:nvSpPr>
        <p:spPr>
          <a:xfrm>
            <a:off x="4895850" y="4038600"/>
            <a:ext cx="2381250" cy="3619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425" b="1" i="0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rPr>
              <a:t>清理正面敌群和 Boss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E48000EA-21E8-4C75-B855-53E4D034E279}"/>
              </a:ext>
            </a:extLst>
          </p:cNvPr>
          <p:cNvSpPr>
            <a:spLocks noGrp="1"/>
          </p:cNvSpPr>
          <p:nvPr/>
        </p:nvSpPr>
        <p:spPr>
          <a:xfrm>
            <a:off x="8229600" y="2400300"/>
            <a:ext cx="3028950" cy="2381250"/>
          </a:xfrm>
          <a:prstGeom prst="roundRect">
            <a:avLst>
              <a:gd name="adj" fmla="val 4800"/>
            </a:avLst>
          </a:prstGeom>
          <a:solidFill>
            <a:srgbClr val="091B2C">
              <a:alpha val="84000"/>
            </a:srgbClr>
          </a:solidFill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B593D6E-A147-4C93-9E60-C9A6E4A5826C}"/>
              </a:ext>
            </a:extLst>
          </p:cNvPr>
          <p:cNvSpPr>
            <a:spLocks noGrp="1"/>
          </p:cNvSpPr>
          <p:nvPr/>
        </p:nvSpPr>
        <p:spPr>
          <a:xfrm>
            <a:off x="8229600" y="2400300"/>
            <a:ext cx="3028950" cy="38100"/>
          </a:xfrm>
          <a:prstGeom prst="roundRect">
            <a:avLst>
              <a:gd name="adj" fmla="val 50000"/>
            </a:avLst>
          </a:prstGeom>
          <a:solidFill>
            <a:srgbClr val="FF4B36"/>
          </a:solidFill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A70426F-E60A-4DB3-A54E-EF8E48A734C7}"/>
              </a:ext>
            </a:extLst>
          </p:cNvPr>
          <p:cNvSpPr>
            <a:spLocks noGrp="1"/>
          </p:cNvSpPr>
          <p:nvPr/>
        </p:nvSpPr>
        <p:spPr>
          <a:xfrm>
            <a:off x="8477250" y="276225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FF4B36"/>
          </a:solidFill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7AE90DC-139F-4FC7-A313-552F783C49DC}"/>
              </a:ext>
            </a:extLst>
          </p:cNvPr>
          <p:cNvSpPr>
            <a:spLocks noGrp="1"/>
          </p:cNvSpPr>
          <p:nvPr/>
        </p:nvSpPr>
        <p:spPr>
          <a:xfrm>
            <a:off x="8477250" y="2800350"/>
            <a:ext cx="685800" cy="571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2550" b="1" i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V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D5D3C5F-D96C-4B25-BE59-355ED5AE1EC1}"/>
              </a:ext>
            </a:extLst>
          </p:cNvPr>
          <p:cNvSpPr>
            <a:spLocks noGrp="1"/>
          </p:cNvSpPr>
          <p:nvPr/>
        </p:nvSpPr>
        <p:spPr>
          <a:xfrm>
            <a:off x="9353550" y="2724150"/>
            <a:ext cx="1619250" cy="3619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9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虚空坍缩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E51A59D-200D-4CA7-B3D3-C336F9B90376}"/>
              </a:ext>
            </a:extLst>
          </p:cNvPr>
          <p:cNvSpPr>
            <a:spLocks noGrp="1"/>
          </p:cNvSpPr>
          <p:nvPr/>
        </p:nvSpPr>
        <p:spPr>
          <a:xfrm>
            <a:off x="9353550" y="3162300"/>
            <a:ext cx="161925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27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聚拢、拉扯、范围爆发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8BDD7DB-D3C7-4885-AD63-D36880786455}"/>
              </a:ext>
            </a:extLst>
          </p:cNvPr>
          <p:cNvSpPr>
            <a:spLocks noGrp="1"/>
          </p:cNvSpPr>
          <p:nvPr/>
        </p:nvSpPr>
        <p:spPr>
          <a:xfrm>
            <a:off x="8515350" y="4038600"/>
            <a:ext cx="2381250" cy="3619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425" b="1" i="0">
                <a:solidFill>
                  <a:srgbClr val="FF4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4B36"/>
                </a:solidFill>
                <a:latin typeface="Microsoft YaHei"/>
                <a:ea typeface="Microsoft YaHei"/>
                <a:cs typeface="Microsoft YaHei"/>
              </a:rPr>
              <a:t>处理密集目标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1CA207F-5BD0-4C47-BBE6-7222A8D7642C}"/>
              </a:ext>
            </a:extLst>
          </p:cNvPr>
          <p:cNvSpPr>
            <a:spLocks noGrp="1"/>
          </p:cNvSpPr>
          <p:nvPr/>
        </p:nvSpPr>
        <p:spPr>
          <a:xfrm>
            <a:off x="11049000" y="6153150"/>
            <a:ext cx="5334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r">
              <a:defRPr sz="1200" b="0" i="0">
                <a:solidFill>
                  <a:srgbClr val="F6FB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F6FB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861C893-B527-4F01-B31E-1BF67657E599}"/>
              </a:ext>
            </a:extLst>
          </p:cNvPr>
          <p:cNvSpPr>
            <a:spLocks noGrp="1"/>
          </p:cNvSpPr>
          <p:nvPr/>
        </p:nvSpPr>
        <p:spPr>
          <a:xfrm>
            <a:off x="762000" y="6305550"/>
            <a:ext cx="9906000" cy="11430"/>
          </a:xfrm>
          <a:prstGeom prst="rect">
            <a:avLst/>
          </a:prstGeom>
          <a:solidFill>
            <a:srgbClr val="F6FBFF">
              <a:alpha val="16000"/>
            </a:srgbClr>
          </a:solidFill>
        </p:spPr>
      </p:sp>
    </p:spTree>
    <p:extLst>
      <p:ext uri="{BB962C8B-B14F-4D97-AF65-F5344CB8AC3E}">
        <p14:creationId xmlns:p14="http://schemas.microsoft.com/office/powerpoint/2010/main" val="1759262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88A91F7-1CAB-4AC9-9553-5E8E1B56C0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090F">
              <a:alpha val="72000"/>
            </a:srgbClr>
          </a:solidFill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445C7A-801F-4E50-A920-7153647057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40812">
                  <a:alpha val="92000"/>
                </a:srgbClr>
              </a:gs>
              <a:gs pos="48000">
                <a:srgbClr val="040812">
                  <a:alpha val="18000"/>
                </a:srgbClr>
              </a:gs>
              <a:gs pos="100000">
                <a:srgbClr val="040812">
                  <a:alpha val="78000"/>
                </a:srgbClr>
              </a:gs>
            </a:gsLst>
            <a:lin ang="0"/>
          </a:gradFill>
        </p:spPr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7A4BF0D-BAE8-49AF-AFA6-90960C957BE4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7E8FF"/>
          </a:solidFill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1131A0A-087F-4132-9C9F-2B2E26E81023}"/>
              </a:ext>
            </a:extLst>
          </p:cNvPr>
          <p:cNvSpPr>
            <a:spLocks noGrp="1"/>
          </p:cNvSpPr>
          <p:nvPr/>
        </p:nvSpPr>
        <p:spPr>
          <a:xfrm>
            <a:off x="742950" y="4572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2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rPr>
              <a:t>BOSS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80A3E6C-9C3D-4E8C-9B42-1E477CF3D5B3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28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Boss 不是血厚而已，而是制造弹幕压迫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BE66216-E0C9-43BE-A8D3-11297D04910F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6858000" cy="4000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500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横向移动、扇形弹幕、蓄力激光共同推高紧张感。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D2324C1-8D71-4DF6-BC77-93175D80C08A}"/>
              </a:ext>
            </a:extLst>
          </p:cNvPr>
          <p:cNvSpPr>
            <a:spLocks noGrp="1"/>
          </p:cNvSpPr>
          <p:nvPr/>
        </p:nvSpPr>
        <p:spPr>
          <a:xfrm>
            <a:off x="4895850" y="2476500"/>
            <a:ext cx="2400300" cy="1123950"/>
          </a:xfrm>
          <a:prstGeom prst="roundRect">
            <a:avLst>
              <a:gd name="adj" fmla="val 16949"/>
            </a:avLst>
          </a:prstGeom>
          <a:solidFill>
            <a:srgbClr val="520C08">
              <a:alpha val="86000"/>
            </a:srgbClr>
          </a:solidFill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D3198D8-29B4-4EE4-9A79-D267E0D260C0}"/>
              </a:ext>
            </a:extLst>
          </p:cNvPr>
          <p:cNvSpPr>
            <a:spLocks noGrp="1"/>
          </p:cNvSpPr>
          <p:nvPr/>
        </p:nvSpPr>
        <p:spPr>
          <a:xfrm>
            <a:off x="4895850" y="2647950"/>
            <a:ext cx="24003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3300" b="1" i="0">
                <a:solidFill>
                  <a:srgbClr val="FF4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 i="0">
                <a:solidFill>
                  <a:srgbClr val="FF4B36"/>
                </a:solidFill>
                <a:latin typeface="Microsoft YaHei"/>
                <a:ea typeface="Microsoft YaHei"/>
                <a:cs typeface="Microsoft YaHei"/>
              </a:rPr>
              <a:t>BOSS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7563FE3-A7A0-432E-B269-22A3D94C892B}"/>
              </a:ext>
            </a:extLst>
          </p:cNvPr>
          <p:cNvSpPr>
            <a:spLocks noGrp="1"/>
          </p:cNvSpPr>
          <p:nvPr/>
        </p:nvSpPr>
        <p:spPr>
          <a:xfrm>
            <a:off x="4895850" y="3162300"/>
            <a:ext cx="2400300" cy="285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350" b="0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蓄力激光 / 扇形弹幕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E93F661-BEBF-4050-85E1-DB1BF168D4E9}"/>
              </a:ext>
            </a:extLst>
          </p:cNvPr>
          <p:cNvSpPr>
            <a:spLocks noGrp="1"/>
          </p:cNvSpPr>
          <p:nvPr/>
        </p:nvSpPr>
        <p:spPr>
          <a:xfrm>
            <a:off x="4114800" y="46101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9A3D"/>
          </a:solidFill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EB87C5C-A131-46E6-9A22-F7D1C63CA087}"/>
              </a:ext>
            </a:extLst>
          </p:cNvPr>
          <p:cNvSpPr>
            <a:spLocks noGrp="1"/>
          </p:cNvSpPr>
          <p:nvPr/>
        </p:nvSpPr>
        <p:spPr>
          <a:xfrm>
            <a:off x="4438650" y="4524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9A3D"/>
          </a:solidFill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7EEEF9B-0B64-406B-BF89-165D403DD0C9}"/>
              </a:ext>
            </a:extLst>
          </p:cNvPr>
          <p:cNvSpPr>
            <a:spLocks noGrp="1"/>
          </p:cNvSpPr>
          <p:nvPr/>
        </p:nvSpPr>
        <p:spPr>
          <a:xfrm>
            <a:off x="4762500" y="44386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9A3D"/>
          </a:solidFill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AEFE68E-E377-4E32-B7CA-FDF65C83FFB6}"/>
              </a:ext>
            </a:extLst>
          </p:cNvPr>
          <p:cNvSpPr>
            <a:spLocks noGrp="1"/>
          </p:cNvSpPr>
          <p:nvPr/>
        </p:nvSpPr>
        <p:spPr>
          <a:xfrm>
            <a:off x="5086350" y="43529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9A3D"/>
          </a:solidFill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F54018E-5B7C-4CC7-8122-22842343D4BB}"/>
              </a:ext>
            </a:extLst>
          </p:cNvPr>
          <p:cNvSpPr>
            <a:spLocks noGrp="1"/>
          </p:cNvSpPr>
          <p:nvPr/>
        </p:nvSpPr>
        <p:spPr>
          <a:xfrm>
            <a:off x="5410200" y="4267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9A3D"/>
          </a:solidFill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AF85167-1BF6-4F67-88EE-005F6C7000EE}"/>
              </a:ext>
            </a:extLst>
          </p:cNvPr>
          <p:cNvSpPr>
            <a:spLocks noGrp="1"/>
          </p:cNvSpPr>
          <p:nvPr/>
        </p:nvSpPr>
        <p:spPr>
          <a:xfrm>
            <a:off x="5734050" y="41814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9A3D"/>
          </a:solidFill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E0784BD-5D49-4971-8AC4-6B6F9EE68FCD}"/>
              </a:ext>
            </a:extLst>
          </p:cNvPr>
          <p:cNvSpPr>
            <a:spLocks noGrp="1"/>
          </p:cNvSpPr>
          <p:nvPr/>
        </p:nvSpPr>
        <p:spPr>
          <a:xfrm>
            <a:off x="6057900" y="40957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9A3D"/>
          </a:solidFill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16D5075-9517-42AA-B075-0CC687BA72C7}"/>
              </a:ext>
            </a:extLst>
          </p:cNvPr>
          <p:cNvSpPr>
            <a:spLocks noGrp="1"/>
          </p:cNvSpPr>
          <p:nvPr/>
        </p:nvSpPr>
        <p:spPr>
          <a:xfrm>
            <a:off x="6381750" y="41814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9A3D"/>
          </a:solidFill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4D0C1C8-5378-48F2-9251-0CFD42DDDD76}"/>
              </a:ext>
            </a:extLst>
          </p:cNvPr>
          <p:cNvSpPr>
            <a:spLocks noGrp="1"/>
          </p:cNvSpPr>
          <p:nvPr/>
        </p:nvSpPr>
        <p:spPr>
          <a:xfrm>
            <a:off x="6705600" y="4267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9A3D"/>
          </a:solidFill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1E77A3B3-3ABA-4987-846B-40BF567CC635}"/>
              </a:ext>
            </a:extLst>
          </p:cNvPr>
          <p:cNvSpPr>
            <a:spLocks noGrp="1"/>
          </p:cNvSpPr>
          <p:nvPr/>
        </p:nvSpPr>
        <p:spPr>
          <a:xfrm>
            <a:off x="7029450" y="43529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9A3D"/>
          </a:solidFill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4B22594-CD52-413C-A0D7-AFDEB96C41C4}"/>
              </a:ext>
            </a:extLst>
          </p:cNvPr>
          <p:cNvSpPr>
            <a:spLocks noGrp="1"/>
          </p:cNvSpPr>
          <p:nvPr/>
        </p:nvSpPr>
        <p:spPr>
          <a:xfrm>
            <a:off x="7353300" y="44386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9A3D"/>
          </a:solidFill>
        </p:spPr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8511818-5001-48BA-B4EA-6DE0022DF47E}"/>
              </a:ext>
            </a:extLst>
          </p:cNvPr>
          <p:cNvSpPr>
            <a:spLocks noGrp="1"/>
          </p:cNvSpPr>
          <p:nvPr/>
        </p:nvSpPr>
        <p:spPr>
          <a:xfrm>
            <a:off x="7677150" y="4524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9A3D"/>
          </a:solidFill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1397941-6227-41EE-9593-D510E15DF3A6}"/>
              </a:ext>
            </a:extLst>
          </p:cNvPr>
          <p:cNvSpPr>
            <a:spLocks noGrp="1"/>
          </p:cNvSpPr>
          <p:nvPr/>
        </p:nvSpPr>
        <p:spPr>
          <a:xfrm>
            <a:off x="8001000" y="46101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9A3D"/>
          </a:solidFill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9FBFC43-165F-4A22-87EC-2E2717BFF058}"/>
              </a:ext>
            </a:extLst>
          </p:cNvPr>
          <p:cNvSpPr>
            <a:spLocks noGrp="1"/>
          </p:cNvSpPr>
          <p:nvPr/>
        </p:nvSpPr>
        <p:spPr>
          <a:xfrm>
            <a:off x="1771650" y="2857500"/>
            <a:ext cx="2476500" cy="57150"/>
          </a:xfrm>
          <a:prstGeom prst="roundRect">
            <a:avLst>
              <a:gd name="adj" fmla="val 50000"/>
            </a:avLst>
          </a:prstGeom>
          <a:solidFill>
            <a:srgbClr val="FF4B36">
              <a:alpha val="74000"/>
            </a:srgbClr>
          </a:solidFill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982BFC16-797D-46FD-B7A1-4F54A694F453}"/>
              </a:ext>
            </a:extLst>
          </p:cNvPr>
          <p:cNvSpPr>
            <a:spLocks noGrp="1"/>
          </p:cNvSpPr>
          <p:nvPr/>
        </p:nvSpPr>
        <p:spPr>
          <a:xfrm>
            <a:off x="1771650" y="2857500"/>
            <a:ext cx="1600200" cy="57150"/>
          </a:xfrm>
          <a:prstGeom prst="roundRect">
            <a:avLst>
              <a:gd name="adj" fmla="val 50000"/>
            </a:avLst>
          </a:prstGeom>
          <a:solidFill>
            <a:srgbClr val="FF4B36"/>
          </a:solidFill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369FAFC-48E5-4D00-B241-C5E75DB2DBD7}"/>
              </a:ext>
            </a:extLst>
          </p:cNvPr>
          <p:cNvSpPr>
            <a:spLocks noGrp="1"/>
          </p:cNvSpPr>
          <p:nvPr/>
        </p:nvSpPr>
        <p:spPr>
          <a:xfrm>
            <a:off x="8420100" y="2400300"/>
            <a:ext cx="2381250" cy="3619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t"/>
          <a:lstStyle/>
          <a:p>
            <a:pPr algn="l">
              <a:defRPr sz="180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最多 3 只 Boss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CA3612F-FD9F-4D27-91F9-FB204770A7C3}"/>
              </a:ext>
            </a:extLst>
          </p:cNvPr>
          <p:cNvSpPr>
            <a:spLocks noGrp="1"/>
          </p:cNvSpPr>
          <p:nvPr/>
        </p:nvSpPr>
        <p:spPr>
          <a:xfrm>
            <a:off x="8420100" y="30861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7E8FF"/>
          </a:solidFill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F0FBB7E-5EB0-4DC6-A0D1-609659B6105B}"/>
              </a:ext>
            </a:extLst>
          </p:cNvPr>
          <p:cNvSpPr>
            <a:spLocks noGrp="1"/>
          </p:cNvSpPr>
          <p:nvPr/>
        </p:nvSpPr>
        <p:spPr>
          <a:xfrm>
            <a:off x="8591550" y="2990850"/>
            <a:ext cx="2457450" cy="3238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500" b="0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超过数量后提升血量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6FB1D0E2-6FFE-49C0-B74A-651D468248A0}"/>
              </a:ext>
            </a:extLst>
          </p:cNvPr>
          <p:cNvSpPr>
            <a:spLocks noGrp="1"/>
          </p:cNvSpPr>
          <p:nvPr/>
        </p:nvSpPr>
        <p:spPr>
          <a:xfrm>
            <a:off x="8420100" y="35242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9A3D"/>
          </a:solidFill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57FC64A-0D56-416D-AA05-D55F105D4603}"/>
              </a:ext>
            </a:extLst>
          </p:cNvPr>
          <p:cNvSpPr>
            <a:spLocks noGrp="1"/>
          </p:cNvSpPr>
          <p:nvPr/>
        </p:nvSpPr>
        <p:spPr>
          <a:xfrm>
            <a:off x="8591550" y="3429000"/>
            <a:ext cx="2457450" cy="3238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500" b="0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血条错开显示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9BBB7E66-DE78-4B74-BA64-1063C5E90D33}"/>
              </a:ext>
            </a:extLst>
          </p:cNvPr>
          <p:cNvSpPr>
            <a:spLocks noGrp="1"/>
          </p:cNvSpPr>
          <p:nvPr/>
        </p:nvSpPr>
        <p:spPr>
          <a:xfrm>
            <a:off x="8420100" y="39624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4B36"/>
          </a:solidFill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B7011E8-18CE-4B03-9C20-65A514AE7B48}"/>
              </a:ext>
            </a:extLst>
          </p:cNvPr>
          <p:cNvSpPr>
            <a:spLocks noGrp="1"/>
          </p:cNvSpPr>
          <p:nvPr/>
        </p:nvSpPr>
        <p:spPr>
          <a:xfrm>
            <a:off x="8591550" y="3867150"/>
            <a:ext cx="2457450" cy="3238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500" b="0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激光前有蓄力提示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49336AE-9535-4AA8-94C0-EAE5D2C91D83}"/>
              </a:ext>
            </a:extLst>
          </p:cNvPr>
          <p:cNvSpPr>
            <a:spLocks noGrp="1"/>
          </p:cNvSpPr>
          <p:nvPr/>
        </p:nvSpPr>
        <p:spPr>
          <a:xfrm>
            <a:off x="11049000" y="6153150"/>
            <a:ext cx="5334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r">
              <a:defRPr sz="1200" b="0" i="0">
                <a:solidFill>
                  <a:srgbClr val="F6FB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F6FB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986BF6D-D3C2-431E-BE2C-40618AD7D336}"/>
              </a:ext>
            </a:extLst>
          </p:cNvPr>
          <p:cNvSpPr>
            <a:spLocks noGrp="1"/>
          </p:cNvSpPr>
          <p:nvPr/>
        </p:nvSpPr>
        <p:spPr>
          <a:xfrm>
            <a:off x="762000" y="6305550"/>
            <a:ext cx="9906000" cy="11430"/>
          </a:xfrm>
          <a:prstGeom prst="rect">
            <a:avLst/>
          </a:prstGeom>
          <a:solidFill>
            <a:srgbClr val="F6FBFF">
              <a:alpha val="16000"/>
            </a:srgbClr>
          </a:solidFill>
        </p:spPr>
      </p:sp>
    </p:spTree>
    <p:extLst>
      <p:ext uri="{BB962C8B-B14F-4D97-AF65-F5344CB8AC3E}">
        <p14:creationId xmlns:p14="http://schemas.microsoft.com/office/powerpoint/2010/main" val="1772520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DA1EC33D-AE0E-4B1B-981B-13FCEA1DAA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6E42BFF-45C7-438C-9C97-2A8E451186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905500" cy="5334000"/>
          </a:xfrm>
          <a:prstGeom prst="rect">
            <a:avLst/>
          </a:prstGeom>
          <a:gradFill>
            <a:gsLst>
              <a:gs pos="0">
                <a:srgbClr val="123454"/>
              </a:gs>
              <a:gs pos="74000">
                <a:srgbClr val="07111F">
                  <a:alpha val="0"/>
                </a:srgbClr>
              </a:gs>
            </a:gsLst>
            <a:path path="shape"/>
          </a:gradFill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C64BA7-3DDD-4290-9064-DB4632C400B2}"/>
              </a:ext>
            </a:extLst>
          </p:cNvPr>
          <p:cNvSpPr>
            <a:spLocks noGrp="1"/>
          </p:cNvSpPr>
          <p:nvPr/>
        </p:nvSpPr>
        <p:spPr>
          <a:xfrm>
            <a:off x="7524750" y="1047750"/>
            <a:ext cx="4191000" cy="4191000"/>
          </a:xfrm>
          <a:prstGeom prst="rect">
            <a:avLst/>
          </a:prstGeom>
          <a:gradFill>
            <a:gsLst>
              <a:gs pos="0">
                <a:srgbClr val="FF5824">
                  <a:alpha val="18000"/>
                </a:srgbClr>
              </a:gs>
              <a:gs pos="70000">
                <a:srgbClr val="07111F">
                  <a:alpha val="0"/>
                </a:srgbClr>
              </a:gs>
            </a:gsLst>
            <a:path path="shape"/>
          </a:gradFill>
        </p:spPr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A43CF42-9893-49FE-9B9D-8D9884E8420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7E8FF"/>
          </a:solidFill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C73D02C-19A6-487B-8C86-1866ABF384F0}"/>
              </a:ext>
            </a:extLst>
          </p:cNvPr>
          <p:cNvSpPr>
            <a:spLocks noGrp="1"/>
          </p:cNvSpPr>
          <p:nvPr/>
        </p:nvSpPr>
        <p:spPr>
          <a:xfrm>
            <a:off x="742950" y="4572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2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rPr>
              <a:t>DIFFICULTY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6754311-0B92-40EB-87FA-9D1C38889F6C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28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分数越高，压力越立体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2DFE0E9-32D8-4A43-9D00-F01CC4664EDA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6858000" cy="4000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500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难度不是单一加血，而是从节奏、弹幕和资源恢复一起施压。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3888CC5-FA00-461B-A668-3B64259C6270}"/>
              </a:ext>
            </a:extLst>
          </p:cNvPr>
          <p:cNvSpPr>
            <a:spLocks noGrp="1"/>
          </p:cNvSpPr>
          <p:nvPr/>
        </p:nvSpPr>
        <p:spPr>
          <a:xfrm>
            <a:off x="1466850" y="4171950"/>
            <a:ext cx="876300" cy="857250"/>
          </a:xfrm>
          <a:prstGeom prst="roundRect">
            <a:avLst>
              <a:gd name="adj" fmla="val 8889"/>
            </a:avLst>
          </a:prstGeom>
          <a:solidFill>
            <a:srgbClr val="37E8FF"/>
          </a:solidFill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978868-7761-4DCE-B4DC-6878429BF7B9}"/>
              </a:ext>
            </a:extLst>
          </p:cNvPr>
          <p:cNvSpPr>
            <a:spLocks noGrp="1"/>
          </p:cNvSpPr>
          <p:nvPr/>
        </p:nvSpPr>
        <p:spPr>
          <a:xfrm>
            <a:off x="1276350" y="5181600"/>
            <a:ext cx="1257300" cy="285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275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生成密度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D4D18E1-E3D0-431C-855A-221E08A5103B}"/>
              </a:ext>
            </a:extLst>
          </p:cNvPr>
          <p:cNvSpPr>
            <a:spLocks noGrp="1"/>
          </p:cNvSpPr>
          <p:nvPr/>
        </p:nvSpPr>
        <p:spPr>
          <a:xfrm>
            <a:off x="3228975" y="3600450"/>
            <a:ext cx="876300" cy="1428750"/>
          </a:xfrm>
          <a:prstGeom prst="roundRect">
            <a:avLst>
              <a:gd name="adj" fmla="val 8696"/>
            </a:avLst>
          </a:prstGeom>
          <a:solidFill>
            <a:srgbClr val="37E8FF"/>
          </a:solidFill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73F5C4A-EB59-4233-ADDA-FEF394CEC042}"/>
              </a:ext>
            </a:extLst>
          </p:cNvPr>
          <p:cNvSpPr>
            <a:spLocks noGrp="1"/>
          </p:cNvSpPr>
          <p:nvPr/>
        </p:nvSpPr>
        <p:spPr>
          <a:xfrm>
            <a:off x="3038475" y="5181600"/>
            <a:ext cx="1257300" cy="285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275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敌机速度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6180373-A945-4775-89C6-E0B1C9456091}"/>
              </a:ext>
            </a:extLst>
          </p:cNvPr>
          <p:cNvSpPr>
            <a:spLocks noGrp="1"/>
          </p:cNvSpPr>
          <p:nvPr/>
        </p:nvSpPr>
        <p:spPr>
          <a:xfrm>
            <a:off x="4991100" y="2952750"/>
            <a:ext cx="876300" cy="2076450"/>
          </a:xfrm>
          <a:prstGeom prst="roundRect">
            <a:avLst>
              <a:gd name="adj" fmla="val 8696"/>
            </a:avLst>
          </a:prstGeom>
          <a:solidFill>
            <a:srgbClr val="FF9A3D"/>
          </a:solidFill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5B77175-1B80-4417-9EBE-C81D0FF272F2}"/>
              </a:ext>
            </a:extLst>
          </p:cNvPr>
          <p:cNvSpPr>
            <a:spLocks noGrp="1"/>
          </p:cNvSpPr>
          <p:nvPr/>
        </p:nvSpPr>
        <p:spPr>
          <a:xfrm>
            <a:off x="4800600" y="5181600"/>
            <a:ext cx="1257300" cy="285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275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射击频率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5BD9AAB-A22F-47D2-8596-E412506B289B}"/>
              </a:ext>
            </a:extLst>
          </p:cNvPr>
          <p:cNvSpPr>
            <a:spLocks noGrp="1"/>
          </p:cNvSpPr>
          <p:nvPr/>
        </p:nvSpPr>
        <p:spPr>
          <a:xfrm>
            <a:off x="6753225" y="2305050"/>
            <a:ext cx="876300" cy="2724150"/>
          </a:xfrm>
          <a:prstGeom prst="roundRect">
            <a:avLst>
              <a:gd name="adj" fmla="val 8696"/>
            </a:avLst>
          </a:prstGeom>
          <a:solidFill>
            <a:srgbClr val="FF4B36"/>
          </a:solidFill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C3C4B5D-83A1-4DC3-906A-FC8A5C9A8A1D}"/>
              </a:ext>
            </a:extLst>
          </p:cNvPr>
          <p:cNvSpPr>
            <a:spLocks noGrp="1"/>
          </p:cNvSpPr>
          <p:nvPr/>
        </p:nvSpPr>
        <p:spPr>
          <a:xfrm>
            <a:off x="6562725" y="5181600"/>
            <a:ext cx="1257300" cy="285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275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Boss强度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BF8FC51-53E4-4A42-B0E9-9A186AB5A4D7}"/>
              </a:ext>
            </a:extLst>
          </p:cNvPr>
          <p:cNvSpPr>
            <a:spLocks noGrp="1"/>
          </p:cNvSpPr>
          <p:nvPr/>
        </p:nvSpPr>
        <p:spPr>
          <a:xfrm>
            <a:off x="8515350" y="1733550"/>
            <a:ext cx="876300" cy="3295650"/>
          </a:xfrm>
          <a:prstGeom prst="roundRect">
            <a:avLst>
              <a:gd name="adj" fmla="val 8696"/>
            </a:avLst>
          </a:prstGeom>
          <a:solidFill>
            <a:srgbClr val="FF9A3D"/>
          </a:solidFill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FB4F34A-6519-4708-8B81-E6E3CDD22619}"/>
              </a:ext>
            </a:extLst>
          </p:cNvPr>
          <p:cNvSpPr>
            <a:spLocks noGrp="1"/>
          </p:cNvSpPr>
          <p:nvPr/>
        </p:nvSpPr>
        <p:spPr>
          <a:xfrm>
            <a:off x="8324850" y="5181600"/>
            <a:ext cx="1257300" cy="285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275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恢复衰减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06185E8-9085-4336-8F02-BCE40BA83F23}"/>
              </a:ext>
            </a:extLst>
          </p:cNvPr>
          <p:cNvSpPr>
            <a:spLocks noGrp="1"/>
          </p:cNvSpPr>
          <p:nvPr/>
        </p:nvSpPr>
        <p:spPr>
          <a:xfrm>
            <a:off x="1123950" y="5029200"/>
            <a:ext cx="9286875" cy="19050"/>
          </a:xfrm>
          <a:prstGeom prst="rect">
            <a:avLst/>
          </a:prstGeom>
          <a:solidFill>
            <a:srgbClr val="F6FBFF">
              <a:alpha val="25000"/>
            </a:srgbClr>
          </a:solidFill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286A8DD-0D31-436C-B21D-C28F2D9674B7}"/>
              </a:ext>
            </a:extLst>
          </p:cNvPr>
          <p:cNvSpPr>
            <a:spLocks noGrp="1"/>
          </p:cNvSpPr>
          <p:nvPr/>
        </p:nvSpPr>
        <p:spPr>
          <a:xfrm>
            <a:off x="8991600" y="1562100"/>
            <a:ext cx="142875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r">
              <a:defRPr sz="18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rPr>
              <a:t>Score ↑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A8D91D6-C6D3-41D3-9DEE-D465346788F5}"/>
              </a:ext>
            </a:extLst>
          </p:cNvPr>
          <p:cNvSpPr>
            <a:spLocks noGrp="1"/>
          </p:cNvSpPr>
          <p:nvPr/>
        </p:nvSpPr>
        <p:spPr>
          <a:xfrm>
            <a:off x="11049000" y="6153150"/>
            <a:ext cx="5334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r">
              <a:defRPr sz="1200" b="0" i="0">
                <a:solidFill>
                  <a:srgbClr val="F6FB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F6FB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5917CE8-B0BD-4135-A9F6-77EC5EEAC1A0}"/>
              </a:ext>
            </a:extLst>
          </p:cNvPr>
          <p:cNvSpPr>
            <a:spLocks noGrp="1"/>
          </p:cNvSpPr>
          <p:nvPr/>
        </p:nvSpPr>
        <p:spPr>
          <a:xfrm>
            <a:off x="762000" y="6305550"/>
            <a:ext cx="9906000" cy="11430"/>
          </a:xfrm>
          <a:prstGeom prst="rect">
            <a:avLst/>
          </a:prstGeom>
          <a:solidFill>
            <a:srgbClr val="F6FBFF">
              <a:alpha val="16000"/>
            </a:srgbClr>
          </a:solidFill>
        </p:spPr>
      </p:sp>
    </p:spTree>
    <p:extLst>
      <p:ext uri="{BB962C8B-B14F-4D97-AF65-F5344CB8AC3E}">
        <p14:creationId xmlns:p14="http://schemas.microsoft.com/office/powerpoint/2010/main" val="167198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DFFA516-227F-46CF-9123-6050F16714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810">
              <a:alpha val="68000"/>
            </a:srgbClr>
          </a:solidFill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CE6963D-4C1E-4BF0-99ED-5C0524E657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40812">
                  <a:alpha val="92000"/>
                </a:srgbClr>
              </a:gs>
              <a:gs pos="48000">
                <a:srgbClr val="040812">
                  <a:alpha val="18000"/>
                </a:srgbClr>
              </a:gs>
              <a:gs pos="100000">
                <a:srgbClr val="040812">
                  <a:alpha val="78000"/>
                </a:srgbClr>
              </a:gs>
            </a:gsLst>
            <a:lin ang="0"/>
          </a:gradFill>
        </p:spPr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F6F06B8-DDC1-4A43-8BED-F86611F855AA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7E8FF"/>
          </a:solidFill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99989A-2962-4DF0-8A26-4D0F9A5DC1BE}"/>
              </a:ext>
            </a:extLst>
          </p:cNvPr>
          <p:cNvSpPr>
            <a:spLocks noGrp="1"/>
          </p:cNvSpPr>
          <p:nvPr/>
        </p:nvSpPr>
        <p:spPr>
          <a:xfrm>
            <a:off x="742950" y="4572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2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rPr>
              <a:t>VISUAL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1A62AD-CDBB-45E8-9EFE-61FD23A95E9B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28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视觉反馈围绕能量、速度和爆炸建立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D85E57-7583-4A6F-89A9-59C1FDED0E1E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6858000" cy="4000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500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运行时特效让战斗不依赖复杂 Prefab 也能有清晰反馈。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629525" y="2133600"/>
            <a:ext cx="2590800" cy="2590800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6957FC48-CD98-4000-B963-84918F501596}"/>
              </a:ext>
            </a:extLst>
          </p:cNvPr>
          <p:cNvSpPr>
            <a:spLocks noGrp="1"/>
          </p:cNvSpPr>
          <p:nvPr/>
        </p:nvSpPr>
        <p:spPr>
          <a:xfrm>
            <a:off x="6838950" y="1943100"/>
            <a:ext cx="4171950" cy="2971800"/>
          </a:xfrm>
          <a:prstGeom prst="roundRect">
            <a:avLst>
              <a:gd name="adj" fmla="val 4487"/>
            </a:avLst>
          </a:prstGeom>
          <a:solidFill>
            <a:srgbClr val="06121F">
              <a:alpha val="44000"/>
            </a:srgbClr>
          </a:solidFill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C063682-C271-4DBE-B9AB-9E337418BE38}"/>
              </a:ext>
            </a:extLst>
          </p:cNvPr>
          <p:cNvSpPr>
            <a:spLocks noGrp="1"/>
          </p:cNvSpPr>
          <p:nvPr/>
        </p:nvSpPr>
        <p:spPr>
          <a:xfrm>
            <a:off x="990600" y="2743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7E8FF"/>
          </a:solidFill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1C8780-1AC9-48C0-943A-B3B58F2349A4}"/>
              </a:ext>
            </a:extLst>
          </p:cNvPr>
          <p:cNvSpPr>
            <a:spLocks noGrp="1"/>
          </p:cNvSpPr>
          <p:nvPr/>
        </p:nvSpPr>
        <p:spPr>
          <a:xfrm>
            <a:off x="1162050" y="2647950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500" b="0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玩家机体：青色辉光与引擎尾焰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23968F5-09AE-4B89-BECA-61B36E6318CF}"/>
              </a:ext>
            </a:extLst>
          </p:cNvPr>
          <p:cNvSpPr>
            <a:spLocks noGrp="1"/>
          </p:cNvSpPr>
          <p:nvPr/>
        </p:nvSpPr>
        <p:spPr>
          <a:xfrm>
            <a:off x="990600" y="33147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9A3D"/>
          </a:solidFill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970553E-794C-49FA-B9DB-C36F3BE05E9A}"/>
              </a:ext>
            </a:extLst>
          </p:cNvPr>
          <p:cNvSpPr>
            <a:spLocks noGrp="1"/>
          </p:cNvSpPr>
          <p:nvPr/>
        </p:nvSpPr>
        <p:spPr>
          <a:xfrm>
            <a:off x="1162050" y="3219450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500" b="0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命中反馈：火花、枪口闪光、爆炸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42C6886-1D4B-4005-80ED-E4B171D5B194}"/>
              </a:ext>
            </a:extLst>
          </p:cNvPr>
          <p:cNvSpPr>
            <a:spLocks noGrp="1"/>
          </p:cNvSpPr>
          <p:nvPr/>
        </p:nvSpPr>
        <p:spPr>
          <a:xfrm>
            <a:off x="990600" y="3886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4B36"/>
          </a:solidFill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52C7C4A-CFA1-44DF-AAB2-49B265146CA3}"/>
              </a:ext>
            </a:extLst>
          </p:cNvPr>
          <p:cNvSpPr>
            <a:spLocks noGrp="1"/>
          </p:cNvSpPr>
          <p:nvPr/>
        </p:nvSpPr>
        <p:spPr>
          <a:xfrm>
            <a:off x="1162050" y="3790950"/>
            <a:ext cx="4000500" cy="3238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500" b="0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环境氛围：雷霆星云、暗黑虚空、流动天空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519C694-3295-4D75-B041-52CF77B60582}"/>
              </a:ext>
            </a:extLst>
          </p:cNvPr>
          <p:cNvSpPr>
            <a:spLocks noGrp="1"/>
          </p:cNvSpPr>
          <p:nvPr/>
        </p:nvSpPr>
        <p:spPr>
          <a:xfrm>
            <a:off x="990600" y="4648200"/>
            <a:ext cx="4667250" cy="4000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65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rPr>
              <a:t>CombatEffects 是运行时视觉入口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A692EAD-3C42-4409-9A53-3C0CADE617DE}"/>
              </a:ext>
            </a:extLst>
          </p:cNvPr>
          <p:cNvSpPr>
            <a:spLocks noGrp="1"/>
          </p:cNvSpPr>
          <p:nvPr/>
        </p:nvSpPr>
        <p:spPr>
          <a:xfrm>
            <a:off x="11049000" y="6153150"/>
            <a:ext cx="5334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r">
              <a:defRPr sz="1200" b="0" i="0">
                <a:solidFill>
                  <a:srgbClr val="F6FB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F6FB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EFD1868-DCB6-49DB-AC10-A09CA56103BC}"/>
              </a:ext>
            </a:extLst>
          </p:cNvPr>
          <p:cNvSpPr>
            <a:spLocks noGrp="1"/>
          </p:cNvSpPr>
          <p:nvPr/>
        </p:nvSpPr>
        <p:spPr>
          <a:xfrm>
            <a:off x="762000" y="6305550"/>
            <a:ext cx="9906000" cy="11430"/>
          </a:xfrm>
          <a:prstGeom prst="rect">
            <a:avLst/>
          </a:prstGeom>
          <a:solidFill>
            <a:srgbClr val="F6FBFF">
              <a:alpha val="16000"/>
            </a:srgbClr>
          </a:solidFill>
        </p:spPr>
      </p:sp>
    </p:spTree>
    <p:extLst>
      <p:ext uri="{BB962C8B-B14F-4D97-AF65-F5344CB8AC3E}">
        <p14:creationId xmlns:p14="http://schemas.microsoft.com/office/powerpoint/2010/main" val="1053717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270F28B3-555A-4680-BE36-E7E7197E1D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FCF52E6-A85C-4A00-8642-49C55D0AF5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905500" cy="5334000"/>
          </a:xfrm>
          <a:prstGeom prst="rect">
            <a:avLst/>
          </a:prstGeom>
          <a:gradFill>
            <a:gsLst>
              <a:gs pos="0">
                <a:srgbClr val="123454"/>
              </a:gs>
              <a:gs pos="74000">
                <a:srgbClr val="07111F">
                  <a:alpha val="0"/>
                </a:srgbClr>
              </a:gs>
            </a:gsLst>
            <a:path path="shape"/>
          </a:gradFill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0EF54E-7DC1-4B10-AE3B-39F461A70CBD}"/>
              </a:ext>
            </a:extLst>
          </p:cNvPr>
          <p:cNvSpPr>
            <a:spLocks noGrp="1"/>
          </p:cNvSpPr>
          <p:nvPr/>
        </p:nvSpPr>
        <p:spPr>
          <a:xfrm>
            <a:off x="7524750" y="1047750"/>
            <a:ext cx="4191000" cy="4191000"/>
          </a:xfrm>
          <a:prstGeom prst="rect">
            <a:avLst/>
          </a:prstGeom>
          <a:gradFill>
            <a:gsLst>
              <a:gs pos="0">
                <a:srgbClr val="FF5824">
                  <a:alpha val="18000"/>
                </a:srgbClr>
              </a:gs>
              <a:gs pos="70000">
                <a:srgbClr val="07111F">
                  <a:alpha val="0"/>
                </a:srgbClr>
              </a:gs>
            </a:gsLst>
            <a:path path="shape"/>
          </a:gradFill>
        </p:spPr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2077419-0D6A-4055-823E-10E01573294B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7E8FF"/>
          </a:solidFill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E233E1-3C74-4404-9FB1-061F8233357C}"/>
              </a:ext>
            </a:extLst>
          </p:cNvPr>
          <p:cNvSpPr>
            <a:spLocks noGrp="1"/>
          </p:cNvSpPr>
          <p:nvPr/>
        </p:nvSpPr>
        <p:spPr>
          <a:xfrm>
            <a:off x="742950" y="4572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2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rPr>
              <a:t>UI / AUDIO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AEF663A-2BCA-4207-9948-EAAF3CB9104D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28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界面只保留战斗所需信息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A991971-08FE-4D9B-99C6-16DF0B8A21AB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6858000" cy="4000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500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生命、分数、技能和音乐控制构成最小但完整的反馈层。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40700E2-D299-42C1-AD6B-615A7F091F70}"/>
              </a:ext>
            </a:extLst>
          </p:cNvPr>
          <p:cNvSpPr>
            <a:spLocks noGrp="1"/>
          </p:cNvSpPr>
          <p:nvPr/>
        </p:nvSpPr>
        <p:spPr>
          <a:xfrm>
            <a:off x="1143000" y="2333625"/>
            <a:ext cx="9906000" cy="2333625"/>
          </a:xfrm>
          <a:prstGeom prst="roundRect">
            <a:avLst>
              <a:gd name="adj" fmla="val 7347"/>
            </a:avLst>
          </a:prstGeom>
          <a:solidFill>
            <a:srgbClr val="081826">
              <a:alpha val="82000"/>
            </a:srgbClr>
          </a:solidFill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2B35377-6726-4142-A12F-A9F32FBE1255}"/>
              </a:ext>
            </a:extLst>
          </p:cNvPr>
          <p:cNvSpPr>
            <a:spLocks noGrp="1"/>
          </p:cNvSpPr>
          <p:nvPr/>
        </p:nvSpPr>
        <p:spPr>
          <a:xfrm>
            <a:off x="1581150" y="2781300"/>
            <a:ext cx="1238250" cy="3238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t"/>
          <a:lstStyle/>
          <a:p>
            <a:pPr algn="l">
              <a:defRPr sz="180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HP 100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D44A324-454E-4B29-9723-EE1F7435E603}"/>
              </a:ext>
            </a:extLst>
          </p:cNvPr>
          <p:cNvSpPr>
            <a:spLocks noGrp="1"/>
          </p:cNvSpPr>
          <p:nvPr/>
        </p:nvSpPr>
        <p:spPr>
          <a:xfrm>
            <a:off x="1581150" y="3200400"/>
            <a:ext cx="2971800" cy="17145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</p:spPr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1331483-AF15-468B-BE86-41B6484205BE}"/>
              </a:ext>
            </a:extLst>
          </p:cNvPr>
          <p:cNvSpPr>
            <a:spLocks noGrp="1"/>
          </p:cNvSpPr>
          <p:nvPr/>
        </p:nvSpPr>
        <p:spPr>
          <a:xfrm>
            <a:off x="1581150" y="3200400"/>
            <a:ext cx="2419350" cy="171450"/>
          </a:xfrm>
          <a:prstGeom prst="roundRect">
            <a:avLst>
              <a:gd name="adj" fmla="val 50000"/>
            </a:avLst>
          </a:prstGeom>
          <a:solidFill>
            <a:srgbClr val="37E8FF"/>
          </a:solidFill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799D96F-0B8B-44FB-86B3-42BF835268E2}"/>
              </a:ext>
            </a:extLst>
          </p:cNvPr>
          <p:cNvSpPr>
            <a:spLocks noGrp="1"/>
          </p:cNvSpPr>
          <p:nvPr/>
        </p:nvSpPr>
        <p:spPr>
          <a:xfrm>
            <a:off x="7677150" y="278130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t"/>
          <a:lstStyle/>
          <a:p>
            <a:pPr algn="r">
              <a:defRPr sz="1800" b="1" i="0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rPr>
              <a:t>SCORE  1250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FE8FDCA-501E-4A53-9DB3-9812AAA6DC3C}"/>
              </a:ext>
            </a:extLst>
          </p:cNvPr>
          <p:cNvSpPr>
            <a:spLocks noGrp="1"/>
          </p:cNvSpPr>
          <p:nvPr/>
        </p:nvSpPr>
        <p:spPr>
          <a:xfrm>
            <a:off x="1581150" y="3790950"/>
            <a:ext cx="1314450" cy="400050"/>
          </a:xfrm>
          <a:prstGeom prst="roundRect">
            <a:avLst>
              <a:gd name="adj" fmla="val 42857"/>
            </a:avLst>
          </a:prstGeom>
          <a:solidFill>
            <a:srgbClr val="081E2D">
              <a:alpha val="78000"/>
            </a:srgbClr>
          </a:solidFill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C2D4FE9-B2B9-4C4A-9BBF-67B4CB5279B6}"/>
              </a:ext>
            </a:extLst>
          </p:cNvPr>
          <p:cNvSpPr>
            <a:spLocks noGrp="1"/>
          </p:cNvSpPr>
          <p:nvPr/>
        </p:nvSpPr>
        <p:spPr>
          <a:xfrm>
            <a:off x="1581150" y="3800475"/>
            <a:ext cx="1314450" cy="4000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5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rPr>
              <a:t>Skill X/C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9ADC75E-266E-482E-AE3D-8C4211F33E6C}"/>
              </a:ext>
            </a:extLst>
          </p:cNvPr>
          <p:cNvSpPr>
            <a:spLocks noGrp="1"/>
          </p:cNvSpPr>
          <p:nvPr/>
        </p:nvSpPr>
        <p:spPr>
          <a:xfrm>
            <a:off x="3105150" y="3790950"/>
            <a:ext cx="1352550" cy="400050"/>
          </a:xfrm>
          <a:prstGeom prst="roundRect">
            <a:avLst>
              <a:gd name="adj" fmla="val 42857"/>
            </a:avLst>
          </a:prstGeom>
          <a:solidFill>
            <a:srgbClr val="361D0C">
              <a:alpha val="72000"/>
            </a:srgbClr>
          </a:solidFill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EE48191-1A90-42CF-B27E-B7BE4FB12DC7}"/>
              </a:ext>
            </a:extLst>
          </p:cNvPr>
          <p:cNvSpPr>
            <a:spLocks noGrp="1"/>
          </p:cNvSpPr>
          <p:nvPr/>
        </p:nvSpPr>
        <p:spPr>
          <a:xfrm>
            <a:off x="3105150" y="3800475"/>
            <a:ext cx="1352550" cy="4000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500" b="1" i="0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9A3D"/>
                </a:solidFill>
                <a:latin typeface="Microsoft YaHei"/>
                <a:ea typeface="Microsoft YaHei"/>
                <a:cs typeface="Microsoft YaHei"/>
              </a:rPr>
              <a:t>Charge 8/12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708CDCD-2938-447F-AC44-47DC197C291A}"/>
              </a:ext>
            </a:extLst>
          </p:cNvPr>
          <p:cNvSpPr>
            <a:spLocks noGrp="1"/>
          </p:cNvSpPr>
          <p:nvPr/>
        </p:nvSpPr>
        <p:spPr>
          <a:xfrm>
            <a:off x="6762750" y="3543300"/>
            <a:ext cx="3048000" cy="647700"/>
          </a:xfrm>
          <a:prstGeom prst="roundRect">
            <a:avLst>
              <a:gd name="adj" fmla="val 17647"/>
            </a:avLst>
          </a:prstGeom>
          <a:solidFill>
            <a:srgbClr val="0A2032">
              <a:alpha val="92000"/>
            </a:srgbClr>
          </a:solidFill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23D3BC8-F6DD-41BE-8FF2-AE1885BCF157}"/>
              </a:ext>
            </a:extLst>
          </p:cNvPr>
          <p:cNvSpPr>
            <a:spLocks noGrp="1"/>
          </p:cNvSpPr>
          <p:nvPr/>
        </p:nvSpPr>
        <p:spPr>
          <a:xfrm>
            <a:off x="6972300" y="3695700"/>
            <a:ext cx="704850" cy="285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t"/>
          <a:lstStyle/>
          <a:p>
            <a:pPr algn="l">
              <a:defRPr sz="1575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rPr>
              <a:t>BGM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6476F87-7C34-4BB4-A168-558D4AA785F7}"/>
              </a:ext>
            </a:extLst>
          </p:cNvPr>
          <p:cNvSpPr>
            <a:spLocks noGrp="1"/>
          </p:cNvSpPr>
          <p:nvPr/>
        </p:nvSpPr>
        <p:spPr>
          <a:xfrm>
            <a:off x="7715250" y="369570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275" b="0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静音 / 切歌 / 音量保存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18F79DD-B4A6-4D6D-8072-596484923CE7}"/>
              </a:ext>
            </a:extLst>
          </p:cNvPr>
          <p:cNvSpPr>
            <a:spLocks noGrp="1"/>
          </p:cNvSpPr>
          <p:nvPr/>
        </p:nvSpPr>
        <p:spPr>
          <a:xfrm>
            <a:off x="11049000" y="6153150"/>
            <a:ext cx="5334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r">
              <a:defRPr sz="1200" b="0" i="0">
                <a:solidFill>
                  <a:srgbClr val="F6FB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F6FB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6F875B7-1128-40DE-9518-5579C95475BA}"/>
              </a:ext>
            </a:extLst>
          </p:cNvPr>
          <p:cNvSpPr>
            <a:spLocks noGrp="1"/>
          </p:cNvSpPr>
          <p:nvPr/>
        </p:nvSpPr>
        <p:spPr>
          <a:xfrm>
            <a:off x="762000" y="6305550"/>
            <a:ext cx="9906000" cy="11430"/>
          </a:xfrm>
          <a:prstGeom prst="rect">
            <a:avLst/>
          </a:prstGeom>
          <a:solidFill>
            <a:srgbClr val="F6FBFF">
              <a:alpha val="16000"/>
            </a:srgbClr>
          </a:solidFill>
        </p:spPr>
      </p:sp>
    </p:spTree>
    <p:extLst>
      <p:ext uri="{BB962C8B-B14F-4D97-AF65-F5344CB8AC3E}">
        <p14:creationId xmlns:p14="http://schemas.microsoft.com/office/powerpoint/2010/main" val="2107882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589403D-93FF-4C0A-BB51-F0C4C93D20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810">
              <a:alpha val="78000"/>
            </a:srgbClr>
          </a:solidFill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B5C4494-F207-4304-A4E4-F5D763A1BD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40812">
                  <a:alpha val="92000"/>
                </a:srgbClr>
              </a:gs>
              <a:gs pos="48000">
                <a:srgbClr val="040812">
                  <a:alpha val="18000"/>
                </a:srgbClr>
              </a:gs>
              <a:gs pos="100000">
                <a:srgbClr val="040812">
                  <a:alpha val="78000"/>
                </a:srgbClr>
              </a:gs>
            </a:gsLst>
            <a:lin ang="0"/>
          </a:gradFill>
        </p:spPr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049EE1F-363A-4F47-94B4-1A00C77D8CC9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7E8FF"/>
          </a:solidFill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2124FE-A41A-4524-BF2C-AC9095442E42}"/>
              </a:ext>
            </a:extLst>
          </p:cNvPr>
          <p:cNvSpPr>
            <a:spLocks noGrp="1"/>
          </p:cNvSpPr>
          <p:nvPr/>
        </p:nvSpPr>
        <p:spPr>
          <a:xfrm>
            <a:off x="742950" y="4572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2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rPr>
              <a:t>CO-OP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E1B8B7-4F7D-406A-9192-89BEBEB1B6CA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28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联机模式由 Photon 房间承接双人协作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3424191-A334-40DF-B590-33BC8DC1B5F9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6858000" cy="4000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500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MasterClient 负责核心生成，同步敌人、Boss、血量与子弹状态。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560F1A8-F0A7-41BD-88E0-1E16243C4A0B}"/>
              </a:ext>
            </a:extLst>
          </p:cNvPr>
          <p:cNvSpPr>
            <a:spLocks noGrp="1"/>
          </p:cNvSpPr>
          <p:nvPr/>
        </p:nvSpPr>
        <p:spPr>
          <a:xfrm>
            <a:off x="1123950" y="2857500"/>
            <a:ext cx="1524000" cy="876300"/>
          </a:xfrm>
          <a:prstGeom prst="roundRect">
            <a:avLst>
              <a:gd name="adj" fmla="val 13043"/>
            </a:avLst>
          </a:prstGeom>
          <a:solidFill>
            <a:srgbClr val="102234">
              <a:alpha val="72000"/>
            </a:srgbClr>
          </a:solidFill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B26E286-4D2C-46ED-9C71-F559D40502D0}"/>
              </a:ext>
            </a:extLst>
          </p:cNvPr>
          <p:cNvSpPr>
            <a:spLocks noGrp="1"/>
          </p:cNvSpPr>
          <p:nvPr/>
        </p:nvSpPr>
        <p:spPr>
          <a:xfrm>
            <a:off x="1123950" y="2857500"/>
            <a:ext cx="1524000" cy="28575"/>
          </a:xfrm>
          <a:prstGeom prst="roundRect">
            <a:avLst>
              <a:gd name="adj" fmla="val 50000"/>
            </a:avLst>
          </a:prstGeom>
          <a:solidFill>
            <a:srgbClr val="37E8FF"/>
          </a:solidFill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2B22B8D-8E26-4735-BD6C-AE1A9ED84D53}"/>
              </a:ext>
            </a:extLst>
          </p:cNvPr>
          <p:cNvSpPr>
            <a:spLocks noGrp="1"/>
          </p:cNvSpPr>
          <p:nvPr/>
        </p:nvSpPr>
        <p:spPr>
          <a:xfrm>
            <a:off x="1257300" y="3009900"/>
            <a:ext cx="1257300" cy="285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6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Player A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418F0B1-EAA6-4D80-B0EC-7E907FC30A85}"/>
              </a:ext>
            </a:extLst>
          </p:cNvPr>
          <p:cNvSpPr>
            <a:spLocks noGrp="1"/>
          </p:cNvSpPr>
          <p:nvPr/>
        </p:nvSpPr>
        <p:spPr>
          <a:xfrm>
            <a:off x="1257300" y="3314700"/>
            <a:ext cx="12573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12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本地输入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A0DC845-3A71-428C-860C-848B28D44280}"/>
              </a:ext>
            </a:extLst>
          </p:cNvPr>
          <p:cNvSpPr>
            <a:spLocks noGrp="1"/>
          </p:cNvSpPr>
          <p:nvPr/>
        </p:nvSpPr>
        <p:spPr>
          <a:xfrm>
            <a:off x="1123950" y="4114800"/>
            <a:ext cx="1524000" cy="876300"/>
          </a:xfrm>
          <a:prstGeom prst="roundRect">
            <a:avLst>
              <a:gd name="adj" fmla="val 13043"/>
            </a:avLst>
          </a:prstGeom>
          <a:solidFill>
            <a:srgbClr val="102234">
              <a:alpha val="72000"/>
            </a:srgbClr>
          </a:solidFill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D867693-1D54-49EF-8F64-37266F76463E}"/>
              </a:ext>
            </a:extLst>
          </p:cNvPr>
          <p:cNvSpPr>
            <a:spLocks noGrp="1"/>
          </p:cNvSpPr>
          <p:nvPr/>
        </p:nvSpPr>
        <p:spPr>
          <a:xfrm>
            <a:off x="1123950" y="4114800"/>
            <a:ext cx="1524000" cy="28575"/>
          </a:xfrm>
          <a:prstGeom prst="roundRect">
            <a:avLst>
              <a:gd name="adj" fmla="val 50000"/>
            </a:avLst>
          </a:prstGeom>
          <a:solidFill>
            <a:srgbClr val="37E8FF"/>
          </a:solidFill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69D4AA-D3B3-4183-B852-073D6060625A}"/>
              </a:ext>
            </a:extLst>
          </p:cNvPr>
          <p:cNvSpPr>
            <a:spLocks noGrp="1"/>
          </p:cNvSpPr>
          <p:nvPr/>
        </p:nvSpPr>
        <p:spPr>
          <a:xfrm>
            <a:off x="1257300" y="4267200"/>
            <a:ext cx="1257300" cy="285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6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Player B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86E46A5-6779-4979-8029-C76BC1BB7849}"/>
              </a:ext>
            </a:extLst>
          </p:cNvPr>
          <p:cNvSpPr>
            <a:spLocks noGrp="1"/>
          </p:cNvSpPr>
          <p:nvPr/>
        </p:nvSpPr>
        <p:spPr>
          <a:xfrm>
            <a:off x="1257300" y="4572000"/>
            <a:ext cx="12573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12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远端玩家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61D51AD-ABEF-43A8-8AC5-6107E7B10756}"/>
              </a:ext>
            </a:extLst>
          </p:cNvPr>
          <p:cNvSpPr>
            <a:spLocks noGrp="1"/>
          </p:cNvSpPr>
          <p:nvPr/>
        </p:nvSpPr>
        <p:spPr>
          <a:xfrm>
            <a:off x="2838450" y="3400425"/>
            <a:ext cx="4572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2550" b="1" i="0">
                <a:solidFill>
                  <a:srgbClr val="37E8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37E8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205B151-F049-45EC-ABE0-E286D78CCDE1}"/>
              </a:ext>
            </a:extLst>
          </p:cNvPr>
          <p:cNvSpPr>
            <a:spLocks noGrp="1"/>
          </p:cNvSpPr>
          <p:nvPr/>
        </p:nvSpPr>
        <p:spPr>
          <a:xfrm>
            <a:off x="3486150" y="3486150"/>
            <a:ext cx="1924050" cy="876300"/>
          </a:xfrm>
          <a:prstGeom prst="roundRect">
            <a:avLst>
              <a:gd name="adj" fmla="val 13043"/>
            </a:avLst>
          </a:prstGeom>
          <a:solidFill>
            <a:srgbClr val="102234">
              <a:alpha val="72000"/>
            </a:srgbClr>
          </a:solidFill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F443910-1FBB-44CA-8FDA-0931DF2A8AC4}"/>
              </a:ext>
            </a:extLst>
          </p:cNvPr>
          <p:cNvSpPr>
            <a:spLocks noGrp="1"/>
          </p:cNvSpPr>
          <p:nvPr/>
        </p:nvSpPr>
        <p:spPr>
          <a:xfrm>
            <a:off x="3486150" y="3486150"/>
            <a:ext cx="1924050" cy="28575"/>
          </a:xfrm>
          <a:prstGeom prst="roundRect">
            <a:avLst>
              <a:gd name="adj" fmla="val 50000"/>
            </a:avLst>
          </a:prstGeom>
          <a:solidFill>
            <a:srgbClr val="FF9A3D"/>
          </a:solidFill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D7FBB16-1FFF-4C05-8600-BE6F7244CA9D}"/>
              </a:ext>
            </a:extLst>
          </p:cNvPr>
          <p:cNvSpPr>
            <a:spLocks noGrp="1"/>
          </p:cNvSpPr>
          <p:nvPr/>
        </p:nvSpPr>
        <p:spPr>
          <a:xfrm>
            <a:off x="3619500" y="3638550"/>
            <a:ext cx="1657350" cy="285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6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Photon Room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425B93D-8249-4CCB-8DF6-B43DEDEAE526}"/>
              </a:ext>
            </a:extLst>
          </p:cNvPr>
          <p:cNvSpPr>
            <a:spLocks noGrp="1"/>
          </p:cNvSpPr>
          <p:nvPr/>
        </p:nvSpPr>
        <p:spPr>
          <a:xfrm>
            <a:off x="3619500" y="3943350"/>
            <a:ext cx="165735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12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创建 / 加入 / 等待满员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B12ABF1-3E1C-46D6-B7A3-17B8C7635151}"/>
              </a:ext>
            </a:extLst>
          </p:cNvPr>
          <p:cNvSpPr>
            <a:spLocks noGrp="1"/>
          </p:cNvSpPr>
          <p:nvPr/>
        </p:nvSpPr>
        <p:spPr>
          <a:xfrm>
            <a:off x="5619750" y="3695700"/>
            <a:ext cx="4572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2550" b="1" i="0">
                <a:solidFill>
                  <a:srgbClr val="37E8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37E8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2050FBB-1EEB-4F0C-8477-1D8C1DA6E333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2019300" cy="876300"/>
          </a:xfrm>
          <a:prstGeom prst="roundRect">
            <a:avLst>
              <a:gd name="adj" fmla="val 13043"/>
            </a:avLst>
          </a:prstGeom>
          <a:solidFill>
            <a:srgbClr val="102234">
              <a:alpha val="72000"/>
            </a:srgbClr>
          </a:solidFill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E4E4296-2019-484E-9DA6-D151ED066AF1}"/>
              </a:ext>
            </a:extLst>
          </p:cNvPr>
          <p:cNvSpPr>
            <a:spLocks noGrp="1"/>
          </p:cNvSpPr>
          <p:nvPr/>
        </p:nvSpPr>
        <p:spPr>
          <a:xfrm>
            <a:off x="6286500" y="2857500"/>
            <a:ext cx="2019300" cy="28575"/>
          </a:xfrm>
          <a:prstGeom prst="roundRect">
            <a:avLst>
              <a:gd name="adj" fmla="val 50000"/>
            </a:avLst>
          </a:prstGeom>
          <a:solidFill>
            <a:srgbClr val="FF4B36"/>
          </a:solidFill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2E98A6E-C106-4CF4-B798-71F462168D51}"/>
              </a:ext>
            </a:extLst>
          </p:cNvPr>
          <p:cNvSpPr>
            <a:spLocks noGrp="1"/>
          </p:cNvSpPr>
          <p:nvPr/>
        </p:nvSpPr>
        <p:spPr>
          <a:xfrm>
            <a:off x="6419850" y="3009900"/>
            <a:ext cx="1752600" cy="285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6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MasterClient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6188B1C-3C35-453C-AB37-15FA7714D489}"/>
              </a:ext>
            </a:extLst>
          </p:cNvPr>
          <p:cNvSpPr>
            <a:spLocks noGrp="1"/>
          </p:cNvSpPr>
          <p:nvPr/>
        </p:nvSpPr>
        <p:spPr>
          <a:xfrm>
            <a:off x="6419850" y="3314700"/>
            <a:ext cx="17526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12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生成敌机与 Boss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619CE82B-9FB8-4E7C-8017-DD7D74D96E7D}"/>
              </a:ext>
            </a:extLst>
          </p:cNvPr>
          <p:cNvSpPr>
            <a:spLocks noGrp="1"/>
          </p:cNvSpPr>
          <p:nvPr/>
        </p:nvSpPr>
        <p:spPr>
          <a:xfrm>
            <a:off x="6286500" y="4114800"/>
            <a:ext cx="2019300" cy="876300"/>
          </a:xfrm>
          <a:prstGeom prst="roundRect">
            <a:avLst>
              <a:gd name="adj" fmla="val 13043"/>
            </a:avLst>
          </a:prstGeom>
          <a:solidFill>
            <a:srgbClr val="102234">
              <a:alpha val="72000"/>
            </a:srgbClr>
          </a:solidFill>
        </p:spPr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98A2143B-6DE0-4171-BE52-9DC17F973533}"/>
              </a:ext>
            </a:extLst>
          </p:cNvPr>
          <p:cNvSpPr>
            <a:spLocks noGrp="1"/>
          </p:cNvSpPr>
          <p:nvPr/>
        </p:nvSpPr>
        <p:spPr>
          <a:xfrm>
            <a:off x="6286500" y="4114800"/>
            <a:ext cx="2019300" cy="28575"/>
          </a:xfrm>
          <a:prstGeom prst="roundRect">
            <a:avLst>
              <a:gd name="adj" fmla="val 50000"/>
            </a:avLst>
          </a:prstGeom>
          <a:solidFill>
            <a:srgbClr val="37E8FF"/>
          </a:solidFill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3D30368-2D96-4382-87F1-BE7F04E65DA5}"/>
              </a:ext>
            </a:extLst>
          </p:cNvPr>
          <p:cNvSpPr>
            <a:spLocks noGrp="1"/>
          </p:cNvSpPr>
          <p:nvPr/>
        </p:nvSpPr>
        <p:spPr>
          <a:xfrm>
            <a:off x="6419850" y="4267200"/>
            <a:ext cx="1752600" cy="285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6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State Sync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F1C1EAC-AC54-49C6-A373-2DD6892B2E9F}"/>
              </a:ext>
            </a:extLst>
          </p:cNvPr>
          <p:cNvSpPr>
            <a:spLocks noGrp="1"/>
          </p:cNvSpPr>
          <p:nvPr/>
        </p:nvSpPr>
        <p:spPr>
          <a:xfrm>
            <a:off x="6419850" y="4572000"/>
            <a:ext cx="17526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12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同步位置 / 血量 / 销毁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6292795-8A23-4430-89BF-9B934F2B766C}"/>
              </a:ext>
            </a:extLst>
          </p:cNvPr>
          <p:cNvSpPr>
            <a:spLocks noGrp="1"/>
          </p:cNvSpPr>
          <p:nvPr/>
        </p:nvSpPr>
        <p:spPr>
          <a:xfrm>
            <a:off x="8496300" y="3400425"/>
            <a:ext cx="4572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2550" b="1" i="0">
                <a:solidFill>
                  <a:srgbClr val="37E8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37E8FF">
                    <a:alpha val="68000"/>
                  </a:srgbClr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C21CF7B8-3EB1-4092-B62C-DF31F32B9D96}"/>
              </a:ext>
            </a:extLst>
          </p:cNvPr>
          <p:cNvSpPr>
            <a:spLocks noGrp="1"/>
          </p:cNvSpPr>
          <p:nvPr/>
        </p:nvSpPr>
        <p:spPr>
          <a:xfrm>
            <a:off x="9124950" y="3486150"/>
            <a:ext cx="1809750" cy="876300"/>
          </a:xfrm>
          <a:prstGeom prst="roundRect">
            <a:avLst>
              <a:gd name="adj" fmla="val 13043"/>
            </a:avLst>
          </a:prstGeom>
          <a:solidFill>
            <a:srgbClr val="102234">
              <a:alpha val="72000"/>
            </a:srgbClr>
          </a:solidFill>
        </p:spPr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F4F5BBAE-6520-48E6-9BA6-B553F2DA794E}"/>
              </a:ext>
            </a:extLst>
          </p:cNvPr>
          <p:cNvSpPr>
            <a:spLocks noGrp="1"/>
          </p:cNvSpPr>
          <p:nvPr/>
        </p:nvSpPr>
        <p:spPr>
          <a:xfrm>
            <a:off x="9124950" y="3486150"/>
            <a:ext cx="1809750" cy="28575"/>
          </a:xfrm>
          <a:prstGeom prst="roundRect">
            <a:avLst>
              <a:gd name="adj" fmla="val 50000"/>
            </a:avLst>
          </a:prstGeom>
          <a:solidFill>
            <a:srgbClr val="FF9A3D"/>
          </a:solidFill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69793CF-D5C2-4E8A-B836-36FF3B45E1FF}"/>
              </a:ext>
            </a:extLst>
          </p:cNvPr>
          <p:cNvSpPr>
            <a:spLocks noGrp="1"/>
          </p:cNvSpPr>
          <p:nvPr/>
        </p:nvSpPr>
        <p:spPr>
          <a:xfrm>
            <a:off x="9258300" y="3638550"/>
            <a:ext cx="1543050" cy="285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6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协作战场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26C43C0-14EA-4971-8B04-A0C30930C5CD}"/>
              </a:ext>
            </a:extLst>
          </p:cNvPr>
          <p:cNvSpPr>
            <a:spLocks noGrp="1"/>
          </p:cNvSpPr>
          <p:nvPr/>
        </p:nvSpPr>
        <p:spPr>
          <a:xfrm>
            <a:off x="9258300" y="3943350"/>
            <a:ext cx="154305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12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双人同步战斗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9640BF3-8919-4698-9DAC-3FFB1CB1DCA2}"/>
              </a:ext>
            </a:extLst>
          </p:cNvPr>
          <p:cNvSpPr>
            <a:spLocks noGrp="1"/>
          </p:cNvSpPr>
          <p:nvPr/>
        </p:nvSpPr>
        <p:spPr>
          <a:xfrm>
            <a:off x="11049000" y="6153150"/>
            <a:ext cx="5334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r">
              <a:defRPr sz="1200" b="0" i="0">
                <a:solidFill>
                  <a:srgbClr val="F6FB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F6FB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9D4D39D-2D8D-44B3-BB6A-D7CA142C11A3}"/>
              </a:ext>
            </a:extLst>
          </p:cNvPr>
          <p:cNvSpPr>
            <a:spLocks noGrp="1"/>
          </p:cNvSpPr>
          <p:nvPr/>
        </p:nvSpPr>
        <p:spPr>
          <a:xfrm>
            <a:off x="762000" y="6305550"/>
            <a:ext cx="9906000" cy="11430"/>
          </a:xfrm>
          <a:prstGeom prst="rect">
            <a:avLst/>
          </a:prstGeom>
          <a:solidFill>
            <a:srgbClr val="F6FBFF">
              <a:alpha val="16000"/>
            </a:srgbClr>
          </a:solidFill>
        </p:spPr>
      </p:sp>
    </p:spTree>
    <p:extLst>
      <p:ext uri="{BB962C8B-B14F-4D97-AF65-F5344CB8AC3E}">
        <p14:creationId xmlns:p14="http://schemas.microsoft.com/office/powerpoint/2010/main" val="1135848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C78B885-996F-429D-8B15-C9D012D56A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810">
              <a:alpha val="52000"/>
            </a:srgbClr>
          </a:solidFill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156C5F-AC9F-4137-B609-EE36938C15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40812">
                  <a:alpha val="92000"/>
                </a:srgbClr>
              </a:gs>
              <a:gs pos="48000">
                <a:srgbClr val="040812">
                  <a:alpha val="18000"/>
                </a:srgbClr>
              </a:gs>
              <a:gs pos="100000">
                <a:srgbClr val="040812">
                  <a:alpha val="78000"/>
                </a:srgbClr>
              </a:gs>
            </a:gsLst>
            <a:lin ang="0"/>
          </a:gradFill>
        </p:spPr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CC0326E-DE30-43EF-8269-7E669D4EC522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7E8FF"/>
          </a:solidFill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911EEC-C0B2-4910-B9AF-8274D4FD909B}"/>
              </a:ext>
            </a:extLst>
          </p:cNvPr>
          <p:cNvSpPr>
            <a:spLocks noGrp="1"/>
          </p:cNvSpPr>
          <p:nvPr/>
        </p:nvSpPr>
        <p:spPr>
          <a:xfrm>
            <a:off x="742950" y="4572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2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rPr>
              <a:t>WRAP-UP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F5BD8DC-8F99-4E7E-99A1-1CEF29F2F741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7239000" cy="5905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28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项目已经形成可展示的完整闭环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144ACE-B42A-40E1-A100-159DC347798C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6858000" cy="4000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l">
              <a:defRPr sz="1500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从玩法、视觉到联机，都有清楚的实现落点。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06A60F6-2076-4982-ACE7-FBB9F5886270}"/>
              </a:ext>
            </a:extLst>
          </p:cNvPr>
          <p:cNvSpPr>
            <a:spLocks noGrp="1"/>
          </p:cNvSpPr>
          <p:nvPr/>
        </p:nvSpPr>
        <p:spPr>
          <a:xfrm>
            <a:off x="1123950" y="3143250"/>
            <a:ext cx="2724150" cy="1371600"/>
          </a:xfrm>
          <a:prstGeom prst="roundRect">
            <a:avLst>
              <a:gd name="adj" fmla="val 9722"/>
            </a:avLst>
          </a:prstGeom>
          <a:solidFill>
            <a:srgbClr val="07111F">
              <a:alpha val="68000"/>
            </a:srgbClr>
          </a:solidFill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4FAF767-70CC-473D-A5CF-7825AB503CC9}"/>
              </a:ext>
            </a:extLst>
          </p:cNvPr>
          <p:cNvSpPr>
            <a:spLocks noGrp="1"/>
          </p:cNvSpPr>
          <p:nvPr/>
        </p:nvSpPr>
        <p:spPr>
          <a:xfrm>
            <a:off x="1123950" y="3143250"/>
            <a:ext cx="2724150" cy="38100"/>
          </a:xfrm>
          <a:prstGeom prst="roundRect">
            <a:avLst>
              <a:gd name="adj" fmla="val 50000"/>
            </a:avLst>
          </a:prstGeom>
          <a:solidFill>
            <a:srgbClr val="37E8FF"/>
          </a:solidFill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6C2ADAE-6AB4-40D4-ACD2-3EC4998D2D80}"/>
              </a:ext>
            </a:extLst>
          </p:cNvPr>
          <p:cNvSpPr>
            <a:spLocks noGrp="1"/>
          </p:cNvSpPr>
          <p:nvPr/>
        </p:nvSpPr>
        <p:spPr>
          <a:xfrm>
            <a:off x="1295400" y="3409950"/>
            <a:ext cx="238125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9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玩法完整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10A3E4-E197-48FF-9C15-C94F1C51C486}"/>
              </a:ext>
            </a:extLst>
          </p:cNvPr>
          <p:cNvSpPr>
            <a:spLocks noGrp="1"/>
          </p:cNvSpPr>
          <p:nvPr/>
        </p:nvSpPr>
        <p:spPr>
          <a:xfrm>
            <a:off x="1352550" y="3905250"/>
            <a:ext cx="226695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27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菜单、战斗、技能、Boss、高分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35D2E3B-3201-4EBC-8754-42679C13E31C}"/>
              </a:ext>
            </a:extLst>
          </p:cNvPr>
          <p:cNvSpPr>
            <a:spLocks noGrp="1"/>
          </p:cNvSpPr>
          <p:nvPr/>
        </p:nvSpPr>
        <p:spPr>
          <a:xfrm>
            <a:off x="4476750" y="3143250"/>
            <a:ext cx="2724150" cy="1371600"/>
          </a:xfrm>
          <a:prstGeom prst="roundRect">
            <a:avLst>
              <a:gd name="adj" fmla="val 9722"/>
            </a:avLst>
          </a:prstGeom>
          <a:solidFill>
            <a:srgbClr val="07111F">
              <a:alpha val="68000"/>
            </a:srgbClr>
          </a:solidFill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D4ADB58-0CAE-4A86-B9AE-9035650C26A8}"/>
              </a:ext>
            </a:extLst>
          </p:cNvPr>
          <p:cNvSpPr>
            <a:spLocks noGrp="1"/>
          </p:cNvSpPr>
          <p:nvPr/>
        </p:nvSpPr>
        <p:spPr>
          <a:xfrm>
            <a:off x="4476750" y="3143250"/>
            <a:ext cx="2724150" cy="38100"/>
          </a:xfrm>
          <a:prstGeom prst="roundRect">
            <a:avLst>
              <a:gd name="adj" fmla="val 50000"/>
            </a:avLst>
          </a:prstGeom>
          <a:solidFill>
            <a:srgbClr val="FF9A3D"/>
          </a:solidFill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A3756A1-8D1C-462E-AD47-D896BDE57C05}"/>
              </a:ext>
            </a:extLst>
          </p:cNvPr>
          <p:cNvSpPr>
            <a:spLocks noGrp="1"/>
          </p:cNvSpPr>
          <p:nvPr/>
        </p:nvSpPr>
        <p:spPr>
          <a:xfrm>
            <a:off x="4648200" y="3409950"/>
            <a:ext cx="238125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9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反馈清楚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C0D3CA3-66DE-4BB7-8A8A-CF45D1008971}"/>
              </a:ext>
            </a:extLst>
          </p:cNvPr>
          <p:cNvSpPr>
            <a:spLocks noGrp="1"/>
          </p:cNvSpPr>
          <p:nvPr/>
        </p:nvSpPr>
        <p:spPr>
          <a:xfrm>
            <a:off x="4705350" y="3905250"/>
            <a:ext cx="226695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27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尾焰 / 辉光 / 命中 / 爆炸 / BGM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7E27B19-AD24-42E8-824C-0DA14E1AC684}"/>
              </a:ext>
            </a:extLst>
          </p:cNvPr>
          <p:cNvSpPr>
            <a:spLocks noGrp="1"/>
          </p:cNvSpPr>
          <p:nvPr/>
        </p:nvSpPr>
        <p:spPr>
          <a:xfrm>
            <a:off x="7829550" y="3143250"/>
            <a:ext cx="2724150" cy="1371600"/>
          </a:xfrm>
          <a:prstGeom prst="roundRect">
            <a:avLst>
              <a:gd name="adj" fmla="val 9722"/>
            </a:avLst>
          </a:prstGeom>
          <a:solidFill>
            <a:srgbClr val="07111F">
              <a:alpha val="68000"/>
            </a:srgbClr>
          </a:solidFill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6E02EE5-FE98-4A3C-9ADC-3C063E97653A}"/>
              </a:ext>
            </a:extLst>
          </p:cNvPr>
          <p:cNvSpPr>
            <a:spLocks noGrp="1"/>
          </p:cNvSpPr>
          <p:nvPr/>
        </p:nvSpPr>
        <p:spPr>
          <a:xfrm>
            <a:off x="7829550" y="3143250"/>
            <a:ext cx="2724150" cy="38100"/>
          </a:xfrm>
          <a:prstGeom prst="roundRect">
            <a:avLst>
              <a:gd name="adj" fmla="val 50000"/>
            </a:avLst>
          </a:prstGeom>
          <a:solidFill>
            <a:srgbClr val="37E8FF"/>
          </a:solidFill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BD93275-59DF-4B16-8017-F8C79DCCBCC6}"/>
              </a:ext>
            </a:extLst>
          </p:cNvPr>
          <p:cNvSpPr>
            <a:spLocks noGrp="1"/>
          </p:cNvSpPr>
          <p:nvPr/>
        </p:nvSpPr>
        <p:spPr>
          <a:xfrm>
            <a:off x="8001000" y="3409950"/>
            <a:ext cx="238125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9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F6FBFF"/>
                </a:solidFill>
                <a:latin typeface="Microsoft YaHei"/>
                <a:ea typeface="Microsoft YaHei"/>
                <a:cs typeface="Microsoft YaHei"/>
              </a:rPr>
              <a:t>可继续扩展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640E4BC-FD65-447F-856B-AC494D52533B}"/>
              </a:ext>
            </a:extLst>
          </p:cNvPr>
          <p:cNvSpPr>
            <a:spLocks noGrp="1"/>
          </p:cNvSpPr>
          <p:nvPr/>
        </p:nvSpPr>
        <p:spPr>
          <a:xfrm>
            <a:off x="8058150" y="3905250"/>
            <a:ext cx="226695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27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A9C2D5"/>
                </a:solidFill>
                <a:latin typeface="Microsoft YaHei"/>
                <a:ea typeface="Microsoft YaHei"/>
                <a:cs typeface="Microsoft YaHei"/>
              </a:rPr>
              <a:t>排行榜 / 多人 / 关卡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32D00F0-A87C-42D4-9CCF-F134320D8886}"/>
              </a:ext>
            </a:extLst>
          </p:cNvPr>
          <p:cNvSpPr>
            <a:spLocks noGrp="1"/>
          </p:cNvSpPr>
          <p:nvPr/>
        </p:nvSpPr>
        <p:spPr>
          <a:xfrm>
            <a:off x="1619250" y="5162550"/>
            <a:ext cx="8953500" cy="4000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ctr">
              <a:defRPr sz="18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37E8FF"/>
                </a:solidFill>
                <a:latin typeface="Microsoft YaHei"/>
                <a:ea typeface="Microsoft YaHei"/>
                <a:cs typeface="Microsoft YaHei"/>
              </a:rPr>
              <a:t>雷霆战机最终版：一套能玩、能看、能继续长大的飞行射击项目。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E016894-FB7D-4998-898E-23B47119FC4B}"/>
              </a:ext>
            </a:extLst>
          </p:cNvPr>
          <p:cNvSpPr>
            <a:spLocks noGrp="1"/>
          </p:cNvSpPr>
          <p:nvPr/>
        </p:nvSpPr>
        <p:spPr>
          <a:xfrm>
            <a:off x="11049000" y="6153150"/>
            <a:ext cx="5334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wrap="square" lIns="95250" tIns="76200" rIns="95250" bIns="76200" anchor="ctr"/>
          <a:lstStyle/>
          <a:p>
            <a:pPr algn="r">
              <a:defRPr sz="1200" b="0" i="0">
                <a:solidFill>
                  <a:srgbClr val="F6FB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F6FBFF">
                    <a:alpha val="48000"/>
                  </a:srgbClr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A11E353-0579-4420-A527-76B37A8FA90A}"/>
              </a:ext>
            </a:extLst>
          </p:cNvPr>
          <p:cNvSpPr>
            <a:spLocks noGrp="1"/>
          </p:cNvSpPr>
          <p:nvPr/>
        </p:nvSpPr>
        <p:spPr>
          <a:xfrm>
            <a:off x="762000" y="6305550"/>
            <a:ext cx="9906000" cy="11430"/>
          </a:xfrm>
          <a:prstGeom prst="rect">
            <a:avLst/>
          </a:prstGeom>
          <a:solidFill>
            <a:srgbClr val="F6FBFF">
              <a:alpha val="16000"/>
            </a:srgbClr>
          </a:solidFill>
        </p:spPr>
      </p:sp>
    </p:spTree>
    <p:extLst>
      <p:ext uri="{BB962C8B-B14F-4D97-AF65-F5344CB8AC3E}">
        <p14:creationId xmlns:p14="http://schemas.microsoft.com/office/powerpoint/2010/main" val="135929417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</Words>
  <Application>Microsoft Office PowerPoint</Application>
  <DocSecurity>0</DocSecurity>
  <PresentationFormat>宽屏</PresentationFormat>
  <Paragraphs>168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松俊 李</cp:lastModifiedBy>
  <cp:revision>1</cp:revision>
  <dcterms:created xsi:type="dcterms:W3CDTF">2026-05-25T08:47:04Z</dcterms:created>
  <dcterms:modified xsi:type="dcterms:W3CDTF">2026-05-25T09:10:19Z</dcterms:modified>
</cp:coreProperties>
</file>